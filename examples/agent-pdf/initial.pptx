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test-material-label"/>
          <p:cNvSpPr txBox="1"/>
          <p:nvPr/>
        </p:nvSpPr>
        <p:spPr>
          <a:xfrm>
            <a:off x="541867" y="330200"/>
            <a:ext cx="8466667" cy="254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200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200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title"/>
          <p:cNvSpPr txBox="1"/>
          <p:nvPr/>
        </p:nvSpPr>
        <p:spPr>
          <a:xfrm>
            <a:off x="541867" y="7535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933" b="1">
                <a:solidFill>
                  <a:srgbClr val="16324F"/>
                </a:solidFill>
                <a:latin typeface="Noto Sans CJK TC"/>
                <a:ea typeface="Noto Sans CJK TC"/>
              </a:rPr>
              <a:t>Rebuild the visual. Keep the meaning.</a:t>
            </a:r>
            <a:endParaRPr sz="2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" name="page-subtitle"/>
          <p:cNvSpPr txBox="1"/>
          <p:nvPr/>
        </p:nvSpPr>
        <p:spPr>
          <a:xfrm>
            <a:off x="541867" y="13800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533" b="0">
                <a:solidFill>
                  <a:srgbClr val="587088"/>
                </a:solidFill>
                <a:latin typeface="Noto Sans CJK TC"/>
                <a:ea typeface="Noto Sans CJK TC"/>
              </a:rPr>
              <a:t>Fidelity-first reconstruction / 高保真視覺重建</a:t>
            </a:r>
            <a:endParaRPr sz="15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5" name="step-01-gradient-card"/>
          <p:cNvSpPr/>
          <p:nvPr/>
        </p:nvSpPr>
        <p:spPr>
          <a:xfrm>
            <a:off x="541867" y="2116667"/>
            <a:ext cx="3556000" cy="3598333"/>
          </a:xfrm>
          <a:prstGeom prst="roundRect">
            <a:avLst>
              <a:gd name="adj" fmla="val 2857"/>
            </a:avLst>
          </a:prstGeom>
          <a:gradFill flip="none" rotWithShape="1">
            <a:gsLst>
              <a:gs pos="0">
                <a:srgbClr val="245CEC"/>
              </a:gs>
              <a:gs pos="100000">
                <a:srgbClr val="553BC8"/>
              </a:gs>
            </a:gsLst>
            <a:lin ang="0" scaled="0"/>
          </a:gra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6" name="step-02-card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step-03-card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8" name="step-01-number"/>
          <p:cNvSpPr txBox="1"/>
          <p:nvPr/>
        </p:nvSpPr>
        <p:spPr>
          <a:xfrm>
            <a:off x="795867" y="23706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Noto Sans CJK TC"/>
                <a:ea typeface="Noto Sans CJK TC"/>
              </a:rPr>
              <a:t>01</a:t>
            </a:r>
            <a:endParaRPr sz="3200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9" name="step-01-title"/>
          <p:cNvSpPr txBox="1"/>
          <p:nvPr/>
        </p:nvSpPr>
        <p:spPr>
          <a:xfrm>
            <a:off x="795867" y="3149600"/>
            <a:ext cx="31326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267" b="1">
                <a:solidFill>
                  <a:srgbClr val="FFFFFF"/>
                </a:solidFill>
                <a:latin typeface="Noto Sans CJK TC"/>
                <a:ea typeface="Noto Sans CJK TC"/>
              </a:rPr>
              <a:t>See the original</a:t>
            </a:r>
            <a:endParaRPr sz="2267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10" name="step-01-details"/>
          <p:cNvSpPr txBox="1"/>
          <p:nvPr/>
        </p:nvSpPr>
        <p:spPr>
          <a:xfrm>
            <a:off x="795867" y="3843867"/>
            <a:ext cx="28786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Noto Sans CJK TC"/>
                <a:ea typeface="Noto Sans CJK TC"/>
              </a:rPr>
              <a:t>版面、字型、色彩</a:t>
            </a:r>
            <a:endParaRPr sz="1600" b="0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grpSp>
        <p:nvGrpSpPr>
          <p:cNvPr id="14" name="original-inspection-symbol"/>
          <p:cNvGrpSpPr/>
          <p:nvPr/>
        </p:nvGrpSpPr>
        <p:grpSpPr>
          <a:xfrm>
            <a:off x="2921000" y="2413000"/>
            <a:ext cx="762000" cy="762000"/>
            <a:chOff x="2921000" y="2413000"/>
            <a:chExt cx="762000" cy="762000"/>
          </a:xfrm>
        </p:grpSpPr>
        <p:sp>
          <p:nvSpPr>
            <p:cNvPr id="11" name="inspection-ring"/>
            <p:cNvSpPr/>
            <p:nvPr/>
          </p:nvSpPr>
          <p:spPr>
            <a:xfrm>
              <a:off x="2921000" y="2413000"/>
              <a:ext cx="762000" cy="762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inspection-center"/>
            <p:cNvSpPr/>
            <p:nvPr/>
          </p:nvSpPr>
          <p:spPr>
            <a:xfrm>
              <a:off x="3090333" y="2582333"/>
              <a:ext cx="423333" cy="423333"/>
            </a:xfrm>
            <a:prstGeom prst="ellipse">
              <a:avLst/>
            </a:prstGeom>
            <a:solidFill>
              <a:srgbClr val="245CEC"/>
            </a:solidFill>
            <a:ln>
              <a:noFill/>
            </a:ln>
          </p:spPr>
        </p:sp>
        <p:sp>
          <p:nvSpPr>
            <p:cNvPr id="13" name="inspection-center-divider"/>
            <p:cNvSpPr/>
            <p:nvPr/>
          </p:nvSpPr>
          <p:spPr>
            <a:xfrm>
              <a:off x="3344333" y="2590800"/>
              <a:ext cx="127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15" name="step-02-number"/>
          <p:cNvSpPr txBox="1"/>
          <p:nvPr/>
        </p:nvSpPr>
        <p:spPr>
          <a:xfrm>
            <a:off x="4715933" y="23706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200" b="1">
                <a:solidFill>
                  <a:srgbClr val="00A68C"/>
                </a:solidFill>
                <a:latin typeface="Noto Sans CJK TC"/>
                <a:ea typeface="Noto Sans CJK TC"/>
              </a:rPr>
              <a:t>02</a:t>
            </a:r>
            <a:endParaRPr sz="3200" b="1">
              <a:solidFill>
                <a:srgbClr val="00A68C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step-02-title"/>
          <p:cNvSpPr txBox="1"/>
          <p:nvPr/>
        </p:nvSpPr>
        <p:spPr>
          <a:xfrm>
            <a:off x="4715933" y="3158067"/>
            <a:ext cx="30056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133" b="1">
                <a:solidFill>
                  <a:srgbClr val="16324F"/>
                </a:solidFill>
                <a:latin typeface="Noto Sans CJK TC"/>
                <a:ea typeface="Noto Sans CJK TC"/>
              </a:rPr>
              <a:t>Recreate layers</a:t>
            </a:r>
            <a:endParaRPr sz="21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step-02-english"/>
          <p:cNvSpPr txBox="1"/>
          <p:nvPr/>
        </p:nvSpPr>
        <p:spPr>
          <a:xfrm>
            <a:off x="4715933" y="3843867"/>
            <a:ext cx="3005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Native text and shapes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step-02-chinese"/>
          <p:cNvSpPr txBox="1"/>
          <p:nvPr/>
        </p:nvSpPr>
        <p:spPr>
          <a:xfrm>
            <a:off x="4715933" y="4309533"/>
            <a:ext cx="3005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主要元素可個別編輯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grpSp>
        <p:nvGrpSpPr>
          <p:cNvPr id="22" name="layer-stack"/>
          <p:cNvGrpSpPr/>
          <p:nvPr/>
        </p:nvGrpSpPr>
        <p:grpSpPr>
          <a:xfrm>
            <a:off x="6781800" y="2531533"/>
            <a:ext cx="711200" cy="575734"/>
            <a:chOff x="6781800" y="2531533"/>
            <a:chExt cx="711200" cy="575734"/>
          </a:xfrm>
        </p:grpSpPr>
        <p:sp>
          <p:nvSpPr>
            <p:cNvPr id="19" name="layer-back"/>
            <p:cNvSpPr/>
            <p:nvPr/>
          </p:nvSpPr>
          <p:spPr>
            <a:xfrm>
              <a:off x="6985000" y="2531533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DCE6FF"/>
            </a:solidFill>
            <a:ln>
              <a:noFill/>
            </a:ln>
          </p:spPr>
        </p:sp>
        <p:sp>
          <p:nvSpPr>
            <p:cNvPr id="20" name="layer-middle"/>
            <p:cNvSpPr/>
            <p:nvPr/>
          </p:nvSpPr>
          <p:spPr>
            <a:xfrm>
              <a:off x="6883400" y="2650067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7FA5F8"/>
            </a:solidFill>
            <a:ln>
              <a:noFill/>
            </a:ln>
          </p:spPr>
        </p:sp>
        <p:sp>
          <p:nvSpPr>
            <p:cNvPr id="21" name="layer-front"/>
            <p:cNvSpPr/>
            <p:nvPr/>
          </p:nvSpPr>
          <p:spPr>
            <a:xfrm>
              <a:off x="6781800" y="2768600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245CEC"/>
            </a:solidFill>
            <a:ln>
              <a:noFill/>
            </a:ln>
          </p:spPr>
        </p:sp>
      </p:grpSp>
      <p:sp>
        <p:nvSpPr>
          <p:cNvPr id="23" name="step-03-number"/>
          <p:cNvSpPr txBox="1"/>
          <p:nvPr/>
        </p:nvSpPr>
        <p:spPr>
          <a:xfrm>
            <a:off x="8424333" y="23706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200" b="1">
                <a:solidFill>
                  <a:srgbClr val="245CEC"/>
                </a:solidFill>
                <a:latin typeface="Noto Sans CJK TC"/>
                <a:ea typeface="Noto Sans CJK TC"/>
              </a:rPr>
              <a:t>03</a:t>
            </a:r>
            <a:endParaRPr sz="3200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step-03-title"/>
          <p:cNvSpPr txBox="1"/>
          <p:nvPr/>
        </p:nvSpPr>
        <p:spPr>
          <a:xfrm>
            <a:off x="8424333" y="3158067"/>
            <a:ext cx="31072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133" b="1">
                <a:solidFill>
                  <a:srgbClr val="16324F"/>
                </a:solidFill>
                <a:latin typeface="Noto Sans CJK TC"/>
                <a:ea typeface="Noto Sans CJK TC"/>
              </a:rPr>
              <a:t>Compare &amp; correct</a:t>
            </a:r>
            <a:endParaRPr sz="21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step-03-details"/>
          <p:cNvSpPr txBox="1"/>
          <p:nvPr/>
        </p:nvSpPr>
        <p:spPr>
          <a:xfrm>
            <a:off x="8424333" y="3843867"/>
            <a:ext cx="31072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Render before delivery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grpSp>
        <p:nvGrpSpPr>
          <p:cNvPr id="28" name="correct-arrow"/>
          <p:cNvGrpSpPr/>
          <p:nvPr/>
        </p:nvGrpSpPr>
        <p:grpSpPr>
          <a:xfrm>
            <a:off x="8483600" y="4715933"/>
            <a:ext cx="821267" cy="152400"/>
            <a:chOff x="8483600" y="4715933"/>
            <a:chExt cx="821267" cy="152400"/>
          </a:xfrm>
        </p:grpSpPr>
        <p:cxnSp>
          <p:nvCxnSpPr>
            <p:cNvPr id="26" name="correct-arrow-path-0"/>
            <p:cNvCxnSpPr/>
            <p:nvPr/>
          </p:nvCxnSpPr>
          <p:spPr>
            <a:xfrm>
              <a:off x="8483600" y="4868333"/>
              <a:ext cx="821267" cy="0"/>
            </a:xfrm>
            <a:prstGeom prst="line">
              <a:avLst/>
            </a:prstGeom>
            <a:ln w="42333">
              <a:solidFill>
                <a:srgbClr val="00A68C"/>
              </a:solidFill>
            </a:ln>
          </p:spPr>
        </p:cxnSp>
        <p:cxnSp>
          <p:nvCxnSpPr>
            <p:cNvPr id="27" name="correct-arrow-path-1"/>
            <p:cNvCxnSpPr/>
            <p:nvPr/>
          </p:nvCxnSpPr>
          <p:spPr>
            <a:xfrm flipH="1" flipV="1">
              <a:off x="9144000" y="4715933"/>
              <a:ext cx="160867" cy="152400"/>
            </a:xfrm>
            <a:prstGeom prst="line">
              <a:avLst/>
            </a:prstGeom>
            <a:ln w="42333">
              <a:solidFill>
                <a:srgbClr val="00A68C"/>
              </a:solidFill>
            </a:ln>
          </p:spPr>
        </p:cxnSp>
      </p:grpSp>
      <p:sp>
        <p:nvSpPr>
          <p:cNvPr id="29" name="source-footer"/>
          <p:cNvSpPr txBox="1"/>
          <p:nvPr/>
        </p:nvSpPr>
        <p:spPr>
          <a:xfrm>
            <a:off x="541867" y="6214533"/>
            <a:ext cx="1100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200" b="0">
                <a:solidFill>
                  <a:srgbClr val="587088"/>
                </a:solidFill>
                <a:latin typeface="Noto Sans CJK TC"/>
                <a:ea typeface="Noto Sans CJK TC"/>
              </a:rPr>
              <a:t>Source designed independently for testing. No client or company documents.</a:t>
            </a:r>
            <a:endParaRPr sz="12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page-title"/>
          <p:cNvSpPr txBox="1"/>
          <p:nvPr/>
        </p:nvSpPr>
        <p:spPr>
          <a:xfrm>
            <a:off x="541867" y="7535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933" b="1">
                <a:solidFill>
                  <a:srgbClr val="16324F"/>
                </a:solidFill>
                <a:latin typeface="Noto Sans CJK TC"/>
                <a:ea typeface="Noto Sans CJK TC"/>
              </a:rPr>
              <a:t>From pixels to editable layers</a:t>
            </a:r>
            <a:endParaRPr sz="2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subtitle"/>
          <p:cNvSpPr txBox="1"/>
          <p:nvPr/>
        </p:nvSpPr>
        <p:spPr>
          <a:xfrm>
            <a:off x="541867" y="13800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533" b="0">
                <a:solidFill>
                  <a:srgbClr val="587088"/>
                </a:solidFill>
                <a:latin typeface="Noto Sans CJK TC"/>
                <a:ea typeface="Noto Sans CJK TC"/>
              </a:rPr>
              <a:t>Complex screenshot fixture / 原始外觀優先</a:t>
            </a:r>
            <a:endParaRPr sz="15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process-card-0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5" name="process-card-1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6" name="process-card-2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process-card-3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grpSp>
        <p:nvGrpSpPr>
          <p:cNvPr id="11" name="forward-connector-0"/>
          <p:cNvGrpSpPr/>
          <p:nvPr/>
        </p:nvGrpSpPr>
        <p:grpSpPr>
          <a:xfrm>
            <a:off x="2751667" y="3505200"/>
            <a:ext cx="838200" cy="101600"/>
            <a:chOff x="2751667" y="3505200"/>
            <a:chExt cx="838200" cy="101600"/>
          </a:xfrm>
        </p:grpSpPr>
        <p:cxnSp>
          <p:nvCxnSpPr>
            <p:cNvPr id="8" name="forward-connector-0-0"/>
            <p:cNvCxnSpPr/>
            <p:nvPr/>
          </p:nvCxnSpPr>
          <p:spPr>
            <a:xfrm>
              <a:off x="2751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9" name="forward-connector-0-1"/>
            <p:cNvCxnSpPr/>
            <p:nvPr/>
          </p:nvCxnSpPr>
          <p:spPr>
            <a:xfrm flipH="1" flipV="1">
              <a:off x="3505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0" name="arrow-lower-0"/>
            <p:cNvCxnSpPr/>
            <p:nvPr/>
          </p:nvCxnSpPr>
          <p:spPr>
            <a:xfrm flipH="1">
              <a:off x="3505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15" name="forward-connector-1"/>
          <p:cNvGrpSpPr/>
          <p:nvPr/>
        </p:nvGrpSpPr>
        <p:grpSpPr>
          <a:xfrm>
            <a:off x="5672667" y="3505200"/>
            <a:ext cx="838200" cy="101600"/>
            <a:chOff x="5672667" y="3505200"/>
            <a:chExt cx="838200" cy="101600"/>
          </a:xfrm>
        </p:grpSpPr>
        <p:cxnSp>
          <p:nvCxnSpPr>
            <p:cNvPr id="12" name="forward-connector-1-0"/>
            <p:cNvCxnSpPr/>
            <p:nvPr/>
          </p:nvCxnSpPr>
          <p:spPr>
            <a:xfrm>
              <a:off x="5672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3" name="forward-connector-1-1"/>
            <p:cNvCxnSpPr/>
            <p:nvPr/>
          </p:nvCxnSpPr>
          <p:spPr>
            <a:xfrm flipH="1" flipV="1">
              <a:off x="6426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4" name="arrow-lower-1"/>
            <p:cNvCxnSpPr/>
            <p:nvPr/>
          </p:nvCxnSpPr>
          <p:spPr>
            <a:xfrm flipH="1">
              <a:off x="6426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19" name="forward-connector-2"/>
          <p:cNvGrpSpPr/>
          <p:nvPr/>
        </p:nvGrpSpPr>
        <p:grpSpPr>
          <a:xfrm>
            <a:off x="8593667" y="3505200"/>
            <a:ext cx="838200" cy="101600"/>
            <a:chOff x="8593667" y="3505200"/>
            <a:chExt cx="838200" cy="101600"/>
          </a:xfrm>
        </p:grpSpPr>
        <p:cxnSp>
          <p:nvCxnSpPr>
            <p:cNvPr id="16" name="forward-connector-2-0"/>
            <p:cNvCxnSpPr/>
            <p:nvPr/>
          </p:nvCxnSpPr>
          <p:spPr>
            <a:xfrm>
              <a:off x="8593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7" name="forward-connector-2-1"/>
            <p:cNvCxnSpPr/>
            <p:nvPr/>
          </p:nvCxnSpPr>
          <p:spPr>
            <a:xfrm flipH="1" flipV="1">
              <a:off x="9347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8" name="arrow-lower-2"/>
            <p:cNvCxnSpPr/>
            <p:nvPr/>
          </p:nvCxnSpPr>
          <p:spPr>
            <a:xfrm flipH="1">
              <a:off x="9347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23" name="inspect-icon"/>
          <p:cNvGrpSpPr/>
          <p:nvPr/>
        </p:nvGrpSpPr>
        <p:grpSpPr>
          <a:xfrm>
            <a:off x="1456267" y="2921000"/>
            <a:ext cx="592667" cy="592667"/>
            <a:chOff x="1456267" y="2921000"/>
            <a:chExt cx="592667" cy="592667"/>
          </a:xfrm>
        </p:grpSpPr>
        <p:sp>
          <p:nvSpPr>
            <p:cNvPr id="20" name="inspect-disc"/>
            <p:cNvSpPr/>
            <p:nvPr/>
          </p:nvSpPr>
          <p:spPr>
            <a:xfrm>
              <a:off x="1456267" y="2921000"/>
              <a:ext cx="592667" cy="592667"/>
            </a:xfrm>
            <a:prstGeom prst="ellipse">
              <a:avLst/>
            </a:prstGeom>
            <a:solidFill>
              <a:srgbClr val="245CEC"/>
            </a:solidFill>
            <a:ln>
              <a:noFill/>
            </a:ln>
          </p:spPr>
        </p:sp>
        <p:sp>
          <p:nvSpPr>
            <p:cNvPr id="21" name="magnifier-white"/>
            <p:cNvSpPr/>
            <p:nvPr/>
          </p:nvSpPr>
          <p:spPr>
            <a:xfrm>
              <a:off x="1600200" y="3064933"/>
              <a:ext cx="254000" cy="25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22" name="magnifier-handle"/>
            <p:cNvCxnSpPr/>
            <p:nvPr/>
          </p:nvCxnSpPr>
          <p:spPr>
            <a:xfrm>
              <a:off x="1803400" y="3276600"/>
              <a:ext cx="135467" cy="110067"/>
            </a:xfrm>
            <a:prstGeom prst="line">
              <a:avLst/>
            </a:prstGeom>
            <a:ln w="42333">
              <a:solidFill>
                <a:srgbClr val="FFFFFF"/>
              </a:solidFill>
            </a:ln>
          </p:spPr>
        </p:cxnSp>
      </p:grpSp>
      <p:grpSp>
        <p:nvGrpSpPr>
          <p:cNvPr id="28" name="rebuild-icon"/>
          <p:cNvGrpSpPr/>
          <p:nvPr/>
        </p:nvGrpSpPr>
        <p:grpSpPr>
          <a:xfrm>
            <a:off x="4377267" y="2921000"/>
            <a:ext cx="592667" cy="592667"/>
            <a:chOff x="4377267" y="2921000"/>
            <a:chExt cx="592667" cy="592667"/>
          </a:xfrm>
        </p:grpSpPr>
        <p:sp>
          <p:nvSpPr>
            <p:cNvPr id="24" name="rebuild-disc"/>
            <p:cNvSpPr/>
            <p:nvPr/>
          </p:nvSpPr>
          <p:spPr>
            <a:xfrm>
              <a:off x="4377267" y="2921000"/>
              <a:ext cx="592667" cy="592667"/>
            </a:xfrm>
            <a:prstGeom prst="ellipse">
              <a:avLst/>
            </a:prstGeom>
            <a:solidFill>
              <a:srgbClr val="00A68C"/>
            </a:solidFill>
            <a:ln>
              <a:noFill/>
            </a:ln>
          </p:spPr>
        </p:sp>
        <p:sp>
          <p:nvSpPr>
            <p:cNvPr id="25" name="rebuild-layer-back"/>
            <p:cNvSpPr/>
            <p:nvPr/>
          </p:nvSpPr>
          <p:spPr>
            <a:xfrm>
              <a:off x="4555067" y="3056467"/>
              <a:ext cx="254000" cy="169333"/>
            </a:xfrm>
            <a:prstGeom prst="rect">
              <a:avLst/>
            </a:prstGeom>
            <a:solidFill>
              <a:srgbClr val="81DDD0"/>
            </a:solidFill>
            <a:ln>
              <a:noFill/>
            </a:ln>
          </p:spPr>
        </p:sp>
        <p:sp>
          <p:nvSpPr>
            <p:cNvPr id="26" name="rebuild-layer-middle"/>
            <p:cNvSpPr/>
            <p:nvPr/>
          </p:nvSpPr>
          <p:spPr>
            <a:xfrm>
              <a:off x="4495800" y="3132667"/>
              <a:ext cx="254000" cy="169333"/>
            </a:xfrm>
            <a:prstGeom prst="rect">
              <a:avLst/>
            </a:prstGeom>
            <a:solidFill>
              <a:srgbClr val="A4E5DB"/>
            </a:solidFill>
            <a:ln>
              <a:noFill/>
            </a:ln>
          </p:spPr>
        </p:sp>
        <p:sp>
          <p:nvSpPr>
            <p:cNvPr id="27" name="rebuild-layer-front"/>
            <p:cNvSpPr/>
            <p:nvPr/>
          </p:nvSpPr>
          <p:spPr>
            <a:xfrm>
              <a:off x="4436533" y="3208867"/>
              <a:ext cx="254000" cy="1693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2" name="render-icon"/>
          <p:cNvGrpSpPr/>
          <p:nvPr/>
        </p:nvGrpSpPr>
        <p:grpSpPr>
          <a:xfrm>
            <a:off x="7298267" y="2921000"/>
            <a:ext cx="592667" cy="592667"/>
            <a:chOff x="7298267" y="2921000"/>
            <a:chExt cx="592667" cy="592667"/>
          </a:xfrm>
        </p:grpSpPr>
        <p:sp>
          <p:nvSpPr>
            <p:cNvPr id="29" name="render-disc"/>
            <p:cNvSpPr/>
            <p:nvPr/>
          </p:nvSpPr>
          <p:spPr>
            <a:xfrm>
              <a:off x="7298267" y="2921000"/>
              <a:ext cx="592667" cy="592667"/>
            </a:xfrm>
            <a:prstGeom prst="ellipse">
              <a:avLst/>
            </a:prstGeom>
            <a:solidFill>
              <a:srgbClr val="7953CF"/>
            </a:solidFill>
            <a:ln>
              <a:noFill/>
            </a:ln>
          </p:spPr>
        </p:sp>
        <p:sp>
          <p:nvSpPr>
            <p:cNvPr id="30" name="monitor-screen"/>
            <p:cNvSpPr/>
            <p:nvPr/>
          </p:nvSpPr>
          <p:spPr>
            <a:xfrm>
              <a:off x="7425267" y="3098800"/>
              <a:ext cx="338667" cy="2116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31" name="monitor-stand"/>
            <p:cNvCxnSpPr/>
            <p:nvPr/>
          </p:nvCxnSpPr>
          <p:spPr>
            <a:xfrm>
              <a:off x="7594600" y="3327400"/>
              <a:ext cx="0" cy="67733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</p:cxnSp>
      </p:grpSp>
      <p:grpSp>
        <p:nvGrpSpPr>
          <p:cNvPr id="36" name="correct-icon"/>
          <p:cNvGrpSpPr/>
          <p:nvPr/>
        </p:nvGrpSpPr>
        <p:grpSpPr>
          <a:xfrm>
            <a:off x="10219267" y="2921000"/>
            <a:ext cx="592667" cy="592667"/>
            <a:chOff x="10219267" y="2921000"/>
            <a:chExt cx="592667" cy="592667"/>
          </a:xfrm>
        </p:grpSpPr>
        <p:sp>
          <p:nvSpPr>
            <p:cNvPr id="33" name="correct-disc"/>
            <p:cNvSpPr/>
            <p:nvPr/>
          </p:nvSpPr>
          <p:spPr>
            <a:xfrm>
              <a:off x="10219267" y="2921000"/>
              <a:ext cx="592667" cy="592667"/>
            </a:xfrm>
            <a:prstGeom prst="ellipse">
              <a:avLst/>
            </a:prstGeom>
            <a:solidFill>
              <a:srgbClr val="D67A24"/>
            </a:solidFill>
            <a:ln>
              <a:noFill/>
            </a:ln>
          </p:spPr>
        </p:sp>
        <p:cxnSp>
          <p:nvCxnSpPr>
            <p:cNvPr id="34" name="check-mark-0"/>
            <p:cNvCxnSpPr/>
            <p:nvPr/>
          </p:nvCxnSpPr>
          <p:spPr>
            <a:xfrm>
              <a:off x="10388600" y="3191933"/>
              <a:ext cx="101600" cy="101600"/>
            </a:xfrm>
            <a:prstGeom prst="line">
              <a:avLst/>
            </a:prstGeom>
            <a:ln w="33867">
              <a:solidFill>
                <a:srgbClr val="FFFFFF"/>
              </a:solidFill>
            </a:ln>
          </p:spPr>
        </p:cxnSp>
        <p:cxnSp>
          <p:nvCxnSpPr>
            <p:cNvPr id="35" name="check-mark-1"/>
            <p:cNvCxnSpPr/>
            <p:nvPr/>
          </p:nvCxnSpPr>
          <p:spPr>
            <a:xfrm flipV="1">
              <a:off x="10490200" y="3115733"/>
              <a:ext cx="186267" cy="177800"/>
            </a:xfrm>
            <a:prstGeom prst="line">
              <a:avLst/>
            </a:prstGeom>
            <a:ln w="33867">
              <a:solidFill>
                <a:srgbClr val="FFFFFF"/>
              </a:solidFill>
            </a:ln>
          </p:spPr>
        </p:cxnSp>
      </p:grpSp>
      <p:sp>
        <p:nvSpPr>
          <p:cNvPr id="37" name="stage-Inspect"/>
          <p:cNvSpPr txBox="1"/>
          <p:nvPr/>
        </p:nvSpPr>
        <p:spPr>
          <a:xfrm>
            <a:off x="889000" y="37084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867" b="1">
                <a:solidFill>
                  <a:srgbClr val="16324F"/>
                </a:solidFill>
                <a:latin typeface="Noto Sans CJK TC"/>
                <a:ea typeface="Noto Sans CJK TC"/>
              </a:rPr>
              <a:t>Inspect</a:t>
            </a:r>
            <a:endParaRPr sz="1867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8" name="stage-Rebuild"/>
          <p:cNvSpPr txBox="1"/>
          <p:nvPr/>
        </p:nvSpPr>
        <p:spPr>
          <a:xfrm>
            <a:off x="3810000" y="37084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867" b="1">
                <a:solidFill>
                  <a:srgbClr val="16324F"/>
                </a:solidFill>
                <a:latin typeface="Noto Sans CJK TC"/>
                <a:ea typeface="Noto Sans CJK TC"/>
              </a:rPr>
              <a:t>Rebuild</a:t>
            </a:r>
            <a:endParaRPr sz="1867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9" name="stage-Render"/>
          <p:cNvSpPr txBox="1"/>
          <p:nvPr/>
        </p:nvSpPr>
        <p:spPr>
          <a:xfrm>
            <a:off x="6731000" y="37084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867" b="1">
                <a:solidFill>
                  <a:srgbClr val="16324F"/>
                </a:solidFill>
                <a:latin typeface="Noto Sans CJK TC"/>
                <a:ea typeface="Noto Sans CJK TC"/>
              </a:rPr>
              <a:t>Render</a:t>
            </a:r>
            <a:endParaRPr sz="1867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0" name="stage-Correct"/>
          <p:cNvSpPr txBox="1"/>
          <p:nvPr/>
        </p:nvSpPr>
        <p:spPr>
          <a:xfrm>
            <a:off x="9652000" y="37084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867" b="1">
                <a:solidFill>
                  <a:srgbClr val="16324F"/>
                </a:solidFill>
                <a:latin typeface="Noto Sans CJK TC"/>
                <a:ea typeface="Noto Sans CJK TC"/>
              </a:rPr>
              <a:t>Correct</a:t>
            </a:r>
            <a:endParaRPr sz="1867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grpSp>
        <p:nvGrpSpPr>
          <p:cNvPr id="46" name="targeted-correction-loop"/>
          <p:cNvGrpSpPr/>
          <p:nvPr/>
        </p:nvGrpSpPr>
        <p:grpSpPr>
          <a:xfrm>
            <a:off x="4580467" y="4572000"/>
            <a:ext cx="5943600" cy="677333"/>
            <a:chOff x="4580467" y="4572000"/>
            <a:chExt cx="5943600" cy="677333"/>
          </a:xfrm>
        </p:grpSpPr>
        <p:cxnSp>
          <p:nvCxnSpPr>
            <p:cNvPr id="41" name="loop-right"/>
            <p:cNvCxnSpPr/>
            <p:nvPr/>
          </p:nvCxnSpPr>
          <p:spPr>
            <a:xfrm>
              <a:off x="10524067" y="4572000"/>
              <a:ext cx="0" cy="677333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2" name="loop-bottom"/>
            <p:cNvCxnSpPr/>
            <p:nvPr/>
          </p:nvCxnSpPr>
          <p:spPr>
            <a:xfrm flipH="1">
              <a:off x="4656667" y="5249333"/>
              <a:ext cx="5867400" cy="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3" name="loop-left"/>
            <p:cNvCxnSpPr/>
            <p:nvPr/>
          </p:nvCxnSpPr>
          <p:spPr>
            <a:xfrm flipV="1">
              <a:off x="4656667" y="4631267"/>
              <a:ext cx="0" cy="618066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4" name="loop-head-upper"/>
            <p:cNvCxnSpPr/>
            <p:nvPr/>
          </p:nvCxnSpPr>
          <p:spPr>
            <a:xfrm flipH="1" flipV="1">
              <a:off x="4580467" y="4580467"/>
              <a:ext cx="76200" cy="5080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5" name="loop-head-lower"/>
            <p:cNvCxnSpPr/>
            <p:nvPr/>
          </p:nvCxnSpPr>
          <p:spPr>
            <a:xfrm flipH="1">
              <a:off x="4580467" y="4631267"/>
              <a:ext cx="76200" cy="5080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</p:grpSp>
      <p:sp>
        <p:nvSpPr>
          <p:cNvPr id="47" name="targeted-loop-label"/>
          <p:cNvSpPr txBox="1"/>
          <p:nvPr/>
        </p:nvSpPr>
        <p:spPr>
          <a:xfrm>
            <a:off x="5384800" y="5477933"/>
            <a:ext cx="5080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Targeted correction loop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8" name="preserve-wording-note"/>
          <p:cNvSpPr txBox="1"/>
          <p:nvPr/>
        </p:nvSpPr>
        <p:spPr>
          <a:xfrm>
            <a:off x="762000" y="6163733"/>
            <a:ext cx="5503333" cy="3725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333" b="0">
                <a:solidFill>
                  <a:srgbClr val="16324F"/>
                </a:solidFill>
                <a:latin typeface="Noto Sans CJK TC"/>
                <a:ea typeface="Noto Sans CJK TC"/>
              </a:rPr>
              <a:t>文字保持原樣</a:t>
            </a:r>
            <a:endParaRPr sz="1333" b="0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page-title"/>
          <p:cNvSpPr txBox="1"/>
          <p:nvPr/>
        </p:nvSpPr>
        <p:spPr>
          <a:xfrm>
            <a:off x="541867" y="7535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933" b="1">
                <a:solidFill>
                  <a:srgbClr val="16324F"/>
                </a:solidFill>
                <a:latin typeface="Noto Sans CJK TC"/>
                <a:ea typeface="Noto Sans CJK TC"/>
              </a:rPr>
              <a:t>A chart is also a visual design</a:t>
            </a:r>
            <a:endParaRPr sz="2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subtitle"/>
          <p:cNvSpPr txBox="1"/>
          <p:nvPr/>
        </p:nvSpPr>
        <p:spPr>
          <a:xfrm>
            <a:off x="541867" y="13800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533" b="0">
                <a:solidFill>
                  <a:srgbClr val="587088"/>
                </a:solidFill>
                <a:latin typeface="Noto Sans CJK TC"/>
                <a:ea typeface="Noto Sans CJK TC"/>
              </a:rPr>
              <a:t>Default: editable shapes and labels. Native chart data only on request.</a:t>
            </a:r>
            <a:endParaRPr sz="15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chart-panel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5" name="chart-heading"/>
          <p:cNvSpPr txBox="1"/>
          <p:nvPr/>
        </p:nvSpPr>
        <p:spPr>
          <a:xfrm>
            <a:off x="931333" y="2370667"/>
            <a:ext cx="6773333" cy="4402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000" b="1">
                <a:solidFill>
                  <a:srgbClr val="16324F"/>
                </a:solidFill>
                <a:latin typeface="Noto Sans CJK TC"/>
                <a:ea typeface="Noto Sans CJK TC"/>
              </a:rPr>
              <a:t>Observed sample values</a:t>
            </a:r>
            <a:endParaRPr sz="20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6" name="chart-gridline-0"/>
          <p:cNvCxnSpPr/>
          <p:nvPr/>
        </p:nvCxnSpPr>
        <p:spPr>
          <a:xfrm>
            <a:off x="1016000" y="33020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7" name="chart-gridline-1"/>
          <p:cNvCxnSpPr/>
          <p:nvPr/>
        </p:nvCxnSpPr>
        <p:spPr>
          <a:xfrm>
            <a:off x="1016000" y="39624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8" name="chart-gridline-2"/>
          <p:cNvCxnSpPr/>
          <p:nvPr/>
        </p:nvCxnSpPr>
        <p:spPr>
          <a:xfrm>
            <a:off x="1016000" y="46228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9" name="chart-gridline-3"/>
          <p:cNvCxnSpPr/>
          <p:nvPr/>
        </p:nvCxnSpPr>
        <p:spPr>
          <a:xfrm>
            <a:off x="1016000" y="52832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sp>
        <p:nvSpPr>
          <p:cNvPr id="10" name="bar-Q1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  <a:ln>
            <a:noFill/>
          </a:ln>
        </p:spPr>
      </p:sp>
      <p:sp>
        <p:nvSpPr>
          <p:cNvPr id="11" name="value-Q1"/>
          <p:cNvSpPr txBox="1"/>
          <p:nvPr/>
        </p:nvSpPr>
        <p:spPr>
          <a:xfrm>
            <a:off x="1413933" y="43180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32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2" name="quarter-Q1"/>
          <p:cNvSpPr txBox="1"/>
          <p:nvPr/>
        </p:nvSpPr>
        <p:spPr>
          <a:xfrm>
            <a:off x="1413933" y="55626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Q1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3" name="bar-Q2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  <a:ln>
            <a:noFill/>
          </a:ln>
        </p:spPr>
      </p:sp>
      <p:sp>
        <p:nvSpPr>
          <p:cNvPr id="14" name="value-Q2"/>
          <p:cNvSpPr txBox="1"/>
          <p:nvPr/>
        </p:nvSpPr>
        <p:spPr>
          <a:xfrm>
            <a:off x="2904067" y="36576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58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quarter-Q2"/>
          <p:cNvSpPr txBox="1"/>
          <p:nvPr/>
        </p:nvSpPr>
        <p:spPr>
          <a:xfrm>
            <a:off x="2904067" y="55626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Q2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bar-Q3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  <a:ln>
            <a:noFill/>
          </a:ln>
        </p:spPr>
      </p:sp>
      <p:sp>
        <p:nvSpPr>
          <p:cNvPr id="17" name="value-Q3"/>
          <p:cNvSpPr txBox="1"/>
          <p:nvPr/>
        </p:nvSpPr>
        <p:spPr>
          <a:xfrm>
            <a:off x="4394200" y="32004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76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quarter-Q3"/>
          <p:cNvSpPr txBox="1"/>
          <p:nvPr/>
        </p:nvSpPr>
        <p:spPr>
          <a:xfrm>
            <a:off x="4394200" y="55626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Q3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9" name="bar-Q4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  <a:ln>
            <a:noFill/>
          </a:ln>
        </p:spPr>
      </p:sp>
      <p:sp>
        <p:nvSpPr>
          <p:cNvPr id="20" name="value-Q4"/>
          <p:cNvSpPr txBox="1"/>
          <p:nvPr/>
        </p:nvSpPr>
        <p:spPr>
          <a:xfrm>
            <a:off x="5884333" y="27940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92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1" name="quarter-Q4"/>
          <p:cNvSpPr txBox="1"/>
          <p:nvPr/>
        </p:nvSpPr>
        <p:spPr>
          <a:xfrm>
            <a:off x="5884333" y="55626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Q4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2" name="chart-note-title"/>
          <p:cNvSpPr txBox="1"/>
          <p:nvPr/>
        </p:nvSpPr>
        <p:spPr>
          <a:xfrm>
            <a:off x="8890000" y="2921000"/>
            <a:ext cx="2963333" cy="465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133" b="1">
                <a:solidFill>
                  <a:srgbClr val="16324F"/>
                </a:solidFill>
                <a:latin typeface="Noto Sans CJK TC"/>
                <a:ea typeface="Noto Sans CJK TC"/>
              </a:rPr>
              <a:t>Exact labels</a:t>
            </a:r>
            <a:endParaRPr sz="21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chart-exact-values"/>
          <p:cNvSpPr txBox="1"/>
          <p:nvPr/>
        </p:nvSpPr>
        <p:spPr>
          <a:xfrm>
            <a:off x="8890000" y="3564467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245CEC"/>
                </a:solidFill>
                <a:latin typeface="Noto Sans CJK TC"/>
                <a:ea typeface="Noto Sans CJK TC"/>
              </a:rPr>
              <a:t>32 / 58 / 76 / 92</a:t>
            </a:r>
            <a:endParaRPr sz="1733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chart-no-inference"/>
          <p:cNvSpPr txBox="1"/>
          <p:nvPr/>
        </p:nvSpPr>
        <p:spPr>
          <a:xfrm>
            <a:off x="8890000" y="4250267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533" b="0">
                <a:solidFill>
                  <a:srgbClr val="587088"/>
                </a:solidFill>
                <a:latin typeface="Noto Sans CJK TC"/>
                <a:ea typeface="Noto Sans CJK TC"/>
              </a:rPr>
              <a:t>No inferred data</a:t>
            </a:r>
            <a:endParaRPr sz="15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chart-no-style-changes"/>
          <p:cNvSpPr txBox="1"/>
          <p:nvPr/>
        </p:nvSpPr>
        <p:spPr>
          <a:xfrm>
            <a:off x="8890000" y="4715933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533" b="0">
                <a:solidFill>
                  <a:srgbClr val="587088"/>
                </a:solidFill>
                <a:latin typeface="Noto Sans CJK TC"/>
                <a:ea typeface="Noto Sans CJK TC"/>
              </a:rPr>
              <a:t>No style changes</a:t>
            </a:r>
            <a:endParaRPr sz="15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