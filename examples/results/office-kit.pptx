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infographic-shape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</p:spPr>
      </p:sp>
      <p:sp>
        <p:nvSpPr>
          <p:cNvPr id="3" name="infographic-text-1"/>
          <p:cNvSpPr txBox="1"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" name="infographic-text-2"/>
          <p:cNvSpPr txBox="1"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Rebuild the visual. Keep the meaning.</a:t>
            </a:r>
            <a:endParaRPr sz="2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5" name="infographic-text-3"/>
          <p:cNvSpPr txBox="1"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Fidelity-first reconstruction / 高保真視覺重建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6" name="infographic-shape-4"/>
          <p:cNvSpPr/>
          <p:nvPr/>
        </p:nvSpPr>
        <p:spPr>
          <a:xfrm>
            <a:off x="541867" y="2116667"/>
            <a:ext cx="3556000" cy="3598333"/>
          </a:xfrm>
          <a:prstGeom prst="roundRect">
            <a:avLst>
              <a:gd name="adj" fmla="val 2857"/>
            </a:avLst>
          </a:prstGeom>
          <a:gradFill flip="none" rotWithShape="1">
            <a:gsLst>
              <a:gs pos="0">
                <a:srgbClr val="245CEC"/>
              </a:gs>
              <a:gs pos="100000">
                <a:srgbClr val="5639C7"/>
              </a:gs>
            </a:gsLst>
            <a:lin ang="0" scaled="0"/>
          </a:gra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7" name="infographic-text-5"/>
          <p:cNvSpPr txBox="1"/>
          <p:nvPr/>
        </p:nvSpPr>
        <p:spPr>
          <a:xfrm>
            <a:off x="795867" y="2362200"/>
            <a:ext cx="2794000" cy="635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3000" b="1">
                <a:solidFill>
                  <a:srgbClr val="FFFFFF"/>
                </a:solidFill>
                <a:latin typeface="Noto Sans CJK TC"/>
                <a:ea typeface="Noto Sans CJK TC"/>
              </a:rPr>
              <a:t>01</a:t>
            </a:r>
            <a:endParaRPr sz="3000" b="1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8" name="infographic-text-6"/>
          <p:cNvSpPr txBox="1"/>
          <p:nvPr/>
        </p:nvSpPr>
        <p:spPr>
          <a:xfrm>
            <a:off x="795867" y="3166533"/>
            <a:ext cx="2912533" cy="508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133" b="1">
                <a:solidFill>
                  <a:srgbClr val="FFFFFF"/>
                </a:solidFill>
                <a:latin typeface="Noto Sans CJK TC"/>
                <a:ea typeface="Noto Sans CJK TC"/>
              </a:rPr>
              <a:t>See the original</a:t>
            </a:r>
            <a:endParaRPr sz="2133" b="1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9" name="infographic-text-7"/>
          <p:cNvSpPr txBox="1"/>
          <p:nvPr/>
        </p:nvSpPr>
        <p:spPr>
          <a:xfrm>
            <a:off x="795867" y="3877733"/>
            <a:ext cx="2912533" cy="3725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0">
                <a:solidFill>
                  <a:srgbClr val="FFFFFF"/>
                </a:solidFill>
                <a:latin typeface="Noto Sans CJK TC"/>
                <a:ea typeface="Noto Sans CJK TC"/>
              </a:rPr>
              <a:t>版面、字型、色彩</a:t>
            </a:r>
            <a:endParaRPr sz="1600" b="0">
              <a:solidFill>
                <a:srgbClr val="FFFFFF"/>
              </a:solidFill>
              <a:latin typeface="Noto Sans CJK TC"/>
              <a:ea typeface="Noto Sans CJK TC"/>
            </a:endParaRPr>
          </a:p>
        </p:txBody>
      </p:sp>
      <p:sp>
        <p:nvSpPr>
          <p:cNvPr id="10" name="infographic-shape-8"/>
          <p:cNvSpPr/>
          <p:nvPr/>
        </p:nvSpPr>
        <p:spPr>
          <a:xfrm>
            <a:off x="2921000" y="2413000"/>
            <a:ext cx="762000" cy="762000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infographic-shape-9"/>
          <p:cNvSpPr/>
          <p:nvPr/>
        </p:nvSpPr>
        <p:spPr>
          <a:xfrm>
            <a:off x="3090333" y="2582333"/>
            <a:ext cx="423333" cy="423333"/>
          </a:xfrm>
          <a:prstGeom prst="ellipse">
            <a:avLst/>
          </a:prstGeom>
          <a:solidFill>
            <a:srgbClr val="245CEC"/>
          </a:solidFill>
        </p:spPr>
      </p:sp>
      <p:sp>
        <p:nvSpPr>
          <p:cNvPr id="12" name="infographic-shape-10"/>
          <p:cNvSpPr/>
          <p:nvPr/>
        </p:nvSpPr>
        <p:spPr>
          <a:xfrm>
            <a:off x="3251200" y="2599267"/>
            <a:ext cx="101600" cy="389467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13" name="infographic-shape-11"/>
          <p:cNvSpPr/>
          <p:nvPr/>
        </p:nvSpPr>
        <p:spPr>
          <a:xfrm>
            <a:off x="4445000" y="2116667"/>
            <a:ext cx="3378200" cy="3598333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14" name="infographic-text-12"/>
          <p:cNvSpPr txBox="1"/>
          <p:nvPr/>
        </p:nvSpPr>
        <p:spPr>
          <a:xfrm>
            <a:off x="4715933" y="2362200"/>
            <a:ext cx="2540000" cy="635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3000" b="1">
                <a:solidFill>
                  <a:srgbClr val="00A68C"/>
                </a:solidFill>
                <a:latin typeface="Noto Sans CJK TC"/>
                <a:ea typeface="Noto Sans CJK TC"/>
              </a:rPr>
              <a:t>02</a:t>
            </a:r>
            <a:endParaRPr sz="3000" b="1">
              <a:solidFill>
                <a:srgbClr val="00A68C"/>
              </a:solidFill>
              <a:latin typeface="Noto Sans CJK TC"/>
              <a:ea typeface="Noto Sans CJK TC"/>
            </a:endParaRPr>
          </a:p>
        </p:txBody>
      </p:sp>
      <p:sp>
        <p:nvSpPr>
          <p:cNvPr id="15" name="infographic-text-13"/>
          <p:cNvSpPr txBox="1"/>
          <p:nvPr/>
        </p:nvSpPr>
        <p:spPr>
          <a:xfrm>
            <a:off x="4715933" y="3166533"/>
            <a:ext cx="2751667" cy="508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000" b="1">
                <a:solidFill>
                  <a:srgbClr val="16324F"/>
                </a:solidFill>
                <a:latin typeface="Noto Sans CJK TC"/>
                <a:ea typeface="Noto Sans CJK TC"/>
              </a:rPr>
              <a:t>Recreate layers</a:t>
            </a:r>
            <a:endParaRPr sz="20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6" name="infographic-text-14"/>
          <p:cNvSpPr txBox="1"/>
          <p:nvPr/>
        </p:nvSpPr>
        <p:spPr>
          <a:xfrm>
            <a:off x="4715933" y="3877733"/>
            <a:ext cx="2743200" cy="3556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Native text and shapes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7" name="infographic-text-15"/>
          <p:cNvSpPr txBox="1"/>
          <p:nvPr/>
        </p:nvSpPr>
        <p:spPr>
          <a:xfrm>
            <a:off x="4715933" y="4351867"/>
            <a:ext cx="2709333" cy="3556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主要元素可個別編輯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8" name="infographic-shape-16"/>
          <p:cNvSpPr/>
          <p:nvPr/>
        </p:nvSpPr>
        <p:spPr>
          <a:xfrm>
            <a:off x="6985000" y="2531533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DDE8FF"/>
          </a:solidFill>
        </p:spPr>
      </p:sp>
      <p:sp>
        <p:nvSpPr>
          <p:cNvPr id="19" name="infographic-shape-17"/>
          <p:cNvSpPr/>
          <p:nvPr/>
        </p:nvSpPr>
        <p:spPr>
          <a:xfrm>
            <a:off x="6883400" y="2650067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80A4F8"/>
          </a:solidFill>
        </p:spPr>
      </p:sp>
      <p:sp>
        <p:nvSpPr>
          <p:cNvPr id="20" name="infographic-shape-18"/>
          <p:cNvSpPr/>
          <p:nvPr/>
        </p:nvSpPr>
        <p:spPr>
          <a:xfrm>
            <a:off x="6781800" y="2768600"/>
            <a:ext cx="508000" cy="338667"/>
          </a:xfrm>
          <a:prstGeom prst="roundRect">
            <a:avLst>
              <a:gd name="adj" fmla="val 30000"/>
            </a:avLst>
          </a:prstGeom>
          <a:solidFill>
            <a:srgbClr val="245CEC"/>
          </a:solidFill>
        </p:spPr>
      </p:sp>
      <p:sp>
        <p:nvSpPr>
          <p:cNvPr id="21" name="infographic-shape-19"/>
          <p:cNvSpPr/>
          <p:nvPr/>
        </p:nvSpPr>
        <p:spPr>
          <a:xfrm>
            <a:off x="8153400" y="2116667"/>
            <a:ext cx="3496733" cy="3598333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22" name="infographic-text-20"/>
          <p:cNvSpPr txBox="1"/>
          <p:nvPr/>
        </p:nvSpPr>
        <p:spPr>
          <a:xfrm>
            <a:off x="8424333" y="2362200"/>
            <a:ext cx="2540000" cy="635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3000" b="1">
                <a:solidFill>
                  <a:srgbClr val="245CEC"/>
                </a:solidFill>
                <a:latin typeface="Noto Sans CJK TC"/>
                <a:ea typeface="Noto Sans CJK TC"/>
              </a:rPr>
              <a:t>03</a:t>
            </a:r>
            <a:endParaRPr sz="3000" b="1">
              <a:solidFill>
                <a:srgbClr val="245CEC"/>
              </a:solidFill>
              <a:latin typeface="Noto Sans CJK TC"/>
              <a:ea typeface="Noto Sans CJK TC"/>
            </a:endParaRPr>
          </a:p>
        </p:txBody>
      </p:sp>
      <p:sp>
        <p:nvSpPr>
          <p:cNvPr id="23" name="infographic-text-21"/>
          <p:cNvSpPr txBox="1"/>
          <p:nvPr/>
        </p:nvSpPr>
        <p:spPr>
          <a:xfrm>
            <a:off x="8424333" y="3166533"/>
            <a:ext cx="2997200" cy="508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933" b="1">
                <a:solidFill>
                  <a:srgbClr val="16324F"/>
                </a:solidFill>
                <a:latin typeface="Noto Sans CJK TC"/>
                <a:ea typeface="Noto Sans CJK TC"/>
              </a:rPr>
              <a:t>Compare &amp; correct</a:t>
            </a:r>
            <a:endParaRPr sz="1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infographic-text-22"/>
          <p:cNvSpPr txBox="1"/>
          <p:nvPr/>
        </p:nvSpPr>
        <p:spPr>
          <a:xfrm>
            <a:off x="8424333" y="3877733"/>
            <a:ext cx="2912533" cy="3556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Render before delivery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cxnSp>
        <p:nvCxnSpPr>
          <p:cNvPr id="25" name="infographic-line-23"/>
          <p:cNvCxnSpPr/>
          <p:nvPr/>
        </p:nvCxnSpPr>
        <p:spPr>
          <a:xfrm>
            <a:off x="8483600" y="4868333"/>
            <a:ext cx="829733" cy="0"/>
          </a:xfrm>
          <a:prstGeom prst="line">
            <a:avLst/>
          </a:prstGeom>
          <a:ln w="42333">
            <a:solidFill>
              <a:srgbClr val="00A68C"/>
            </a:solidFill>
          </a:ln>
        </p:spPr>
      </p:cxnSp>
      <p:cxnSp>
        <p:nvCxnSpPr>
          <p:cNvPr id="26" name="infographic-line-24"/>
          <p:cNvCxnSpPr/>
          <p:nvPr/>
        </p:nvCxnSpPr>
        <p:spPr>
          <a:xfrm flipH="1" flipV="1">
            <a:off x="9144000" y="4715933"/>
            <a:ext cx="169333" cy="152400"/>
          </a:xfrm>
          <a:prstGeom prst="line">
            <a:avLst/>
          </a:prstGeom>
          <a:ln w="42333">
            <a:solidFill>
              <a:srgbClr val="00A68C"/>
            </a:solidFill>
          </a:ln>
        </p:spPr>
      </p:cxnSp>
      <p:sp>
        <p:nvSpPr>
          <p:cNvPr id="27" name="infographic-text-25"/>
          <p:cNvSpPr txBox="1"/>
          <p:nvPr/>
        </p:nvSpPr>
        <p:spPr>
          <a:xfrm>
            <a:off x="541867" y="6248400"/>
            <a:ext cx="10752667" cy="296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133" b="0">
                <a:solidFill>
                  <a:srgbClr val="587088"/>
                </a:solidFill>
                <a:latin typeface="Noto Sans CJK TC"/>
                <a:ea typeface="Noto Sans CJK TC"/>
              </a:rPr>
              <a:t>Source designed independently for testing. No client or company documents.</a:t>
            </a:r>
            <a:endParaRPr sz="1133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mplex-flow-shape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</p:spPr>
      </p:sp>
      <p:sp>
        <p:nvSpPr>
          <p:cNvPr id="3" name="complex-flow-text-1"/>
          <p:cNvSpPr txBox="1"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" name="complex-flow-text-2"/>
          <p:cNvSpPr txBox="1"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From pixels to editable layers</a:t>
            </a:r>
            <a:endParaRPr sz="2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5" name="complex-flow-text-3"/>
          <p:cNvSpPr txBox="1"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Complex screenshot fixture / 原始外觀優先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cxnSp>
        <p:nvCxnSpPr>
          <p:cNvPr id="6" name="complex-flow-line-4"/>
          <p:cNvCxnSpPr/>
          <p:nvPr/>
        </p:nvCxnSpPr>
        <p:spPr>
          <a:xfrm>
            <a:off x="2751667" y="3556000"/>
            <a:ext cx="829733" cy="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7" name="complex-flow-line-5"/>
          <p:cNvCxnSpPr/>
          <p:nvPr/>
        </p:nvCxnSpPr>
        <p:spPr>
          <a:xfrm>
            <a:off x="3505200" y="35052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8" name="complex-flow-line-6"/>
          <p:cNvCxnSpPr/>
          <p:nvPr/>
        </p:nvCxnSpPr>
        <p:spPr>
          <a:xfrm flipH="1">
            <a:off x="3505200" y="35560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9" name="complex-flow-line-7"/>
          <p:cNvCxnSpPr/>
          <p:nvPr/>
        </p:nvCxnSpPr>
        <p:spPr>
          <a:xfrm>
            <a:off x="5672667" y="3556000"/>
            <a:ext cx="829733" cy="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0" name="complex-flow-line-8"/>
          <p:cNvCxnSpPr/>
          <p:nvPr/>
        </p:nvCxnSpPr>
        <p:spPr>
          <a:xfrm>
            <a:off x="6426200" y="35052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1" name="complex-flow-line-9"/>
          <p:cNvCxnSpPr/>
          <p:nvPr/>
        </p:nvCxnSpPr>
        <p:spPr>
          <a:xfrm flipH="1">
            <a:off x="6426200" y="35560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2" name="complex-flow-line-10"/>
          <p:cNvCxnSpPr/>
          <p:nvPr/>
        </p:nvCxnSpPr>
        <p:spPr>
          <a:xfrm>
            <a:off x="8593667" y="3556000"/>
            <a:ext cx="829733" cy="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3" name="complex-flow-line-11"/>
          <p:cNvCxnSpPr/>
          <p:nvPr/>
        </p:nvCxnSpPr>
        <p:spPr>
          <a:xfrm>
            <a:off x="9347200" y="35052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cxnSp>
        <p:nvCxnSpPr>
          <p:cNvPr id="14" name="complex-flow-line-12"/>
          <p:cNvCxnSpPr/>
          <p:nvPr/>
        </p:nvCxnSpPr>
        <p:spPr>
          <a:xfrm flipH="1">
            <a:off x="9347200" y="3556000"/>
            <a:ext cx="76200" cy="50800"/>
          </a:xfrm>
          <a:prstGeom prst="line">
            <a:avLst/>
          </a:prstGeom>
          <a:ln w="25400">
            <a:solidFill>
              <a:srgbClr val="587088"/>
            </a:solidFill>
          </a:ln>
        </p:spPr>
      </p:cxnSp>
      <p:sp>
        <p:nvSpPr>
          <p:cNvPr id="15" name="complex-flow-shape-13"/>
          <p:cNvSpPr/>
          <p:nvPr/>
        </p:nvSpPr>
        <p:spPr>
          <a:xfrm>
            <a:off x="762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16" name="complex-flow-shape-14"/>
          <p:cNvSpPr/>
          <p:nvPr/>
        </p:nvSpPr>
        <p:spPr>
          <a:xfrm>
            <a:off x="1456267" y="2921000"/>
            <a:ext cx="592667" cy="592667"/>
          </a:xfrm>
          <a:prstGeom prst="ellipse">
            <a:avLst/>
          </a:prstGeom>
          <a:solidFill>
            <a:srgbClr val="245CEC"/>
          </a:solidFill>
        </p:spPr>
      </p:sp>
      <p:sp>
        <p:nvSpPr>
          <p:cNvPr id="17" name="complex-flow-shape-15"/>
          <p:cNvSpPr/>
          <p:nvPr/>
        </p:nvSpPr>
        <p:spPr>
          <a:xfrm>
            <a:off x="1600200" y="3064933"/>
            <a:ext cx="254000" cy="254000"/>
          </a:xfrm>
          <a:prstGeom prst="ellipse">
            <a:avLst/>
          </a:prstGeom>
          <a:solidFill>
            <a:srgbClr val="FFFFFF"/>
          </a:solidFill>
        </p:spPr>
      </p:sp>
      <p:cxnSp>
        <p:nvCxnSpPr>
          <p:cNvPr id="18" name="complex-flow-line-16"/>
          <p:cNvCxnSpPr/>
          <p:nvPr/>
        </p:nvCxnSpPr>
        <p:spPr>
          <a:xfrm>
            <a:off x="1803400" y="3251200"/>
            <a:ext cx="135467" cy="135467"/>
          </a:xfrm>
          <a:prstGeom prst="line">
            <a:avLst/>
          </a:prstGeom>
          <a:ln w="33867">
            <a:solidFill>
              <a:srgbClr val="FFFFFF"/>
            </a:solidFill>
          </a:ln>
        </p:spPr>
      </p:cxnSp>
      <p:sp>
        <p:nvSpPr>
          <p:cNvPr id="19" name="complex-flow-text-17"/>
          <p:cNvSpPr txBox="1"/>
          <p:nvPr/>
        </p:nvSpPr>
        <p:spPr>
          <a:xfrm>
            <a:off x="889000" y="3733800"/>
            <a:ext cx="1735667" cy="431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Inspect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0" name="complex-flow-shape-18"/>
          <p:cNvSpPr/>
          <p:nvPr/>
        </p:nvSpPr>
        <p:spPr>
          <a:xfrm>
            <a:off x="3683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21" name="complex-flow-shape-19"/>
          <p:cNvSpPr/>
          <p:nvPr/>
        </p:nvSpPr>
        <p:spPr>
          <a:xfrm>
            <a:off x="4377267" y="2921000"/>
            <a:ext cx="592667" cy="592667"/>
          </a:xfrm>
          <a:prstGeom prst="ellipse">
            <a:avLst/>
          </a:prstGeom>
          <a:solidFill>
            <a:srgbClr val="00A68C"/>
          </a:solidFill>
        </p:spPr>
      </p:sp>
      <p:sp>
        <p:nvSpPr>
          <p:cNvPr id="22" name="complex-flow-shape-20"/>
          <p:cNvSpPr/>
          <p:nvPr/>
        </p:nvSpPr>
        <p:spPr>
          <a:xfrm>
            <a:off x="4555067" y="3056467"/>
            <a:ext cx="254000" cy="169333"/>
          </a:xfrm>
          <a:prstGeom prst="rect">
            <a:avLst/>
          </a:prstGeom>
          <a:solidFill>
            <a:srgbClr val="A8E5DC"/>
          </a:solidFill>
        </p:spPr>
      </p:sp>
      <p:sp>
        <p:nvSpPr>
          <p:cNvPr id="23" name="complex-flow-shape-21"/>
          <p:cNvSpPr/>
          <p:nvPr/>
        </p:nvSpPr>
        <p:spPr>
          <a:xfrm>
            <a:off x="4495800" y="3132667"/>
            <a:ext cx="254000" cy="169333"/>
          </a:xfrm>
          <a:prstGeom prst="rect">
            <a:avLst/>
          </a:prstGeom>
          <a:solidFill>
            <a:srgbClr val="A8E5DC"/>
          </a:solidFill>
        </p:spPr>
      </p:sp>
      <p:sp>
        <p:nvSpPr>
          <p:cNvPr id="24" name="complex-flow-shape-22"/>
          <p:cNvSpPr/>
          <p:nvPr/>
        </p:nvSpPr>
        <p:spPr>
          <a:xfrm>
            <a:off x="4436533" y="3208867"/>
            <a:ext cx="254000" cy="169333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complex-flow-text-23"/>
          <p:cNvSpPr txBox="1"/>
          <p:nvPr/>
        </p:nvSpPr>
        <p:spPr>
          <a:xfrm>
            <a:off x="3810000" y="3733800"/>
            <a:ext cx="1735667" cy="431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Rebuild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6" name="complex-flow-shape-24"/>
          <p:cNvSpPr/>
          <p:nvPr/>
        </p:nvSpPr>
        <p:spPr>
          <a:xfrm>
            <a:off x="6604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27" name="complex-flow-shape-25"/>
          <p:cNvSpPr/>
          <p:nvPr/>
        </p:nvSpPr>
        <p:spPr>
          <a:xfrm>
            <a:off x="7298267" y="2921000"/>
            <a:ext cx="592667" cy="592667"/>
          </a:xfrm>
          <a:prstGeom prst="ellipse">
            <a:avLst/>
          </a:prstGeom>
          <a:solidFill>
            <a:srgbClr val="7953CF"/>
          </a:solidFill>
        </p:spPr>
      </p:sp>
      <p:sp>
        <p:nvSpPr>
          <p:cNvPr id="28" name="complex-flow-shape-26"/>
          <p:cNvSpPr/>
          <p:nvPr/>
        </p:nvSpPr>
        <p:spPr>
          <a:xfrm>
            <a:off x="7425267" y="3098800"/>
            <a:ext cx="338667" cy="211667"/>
          </a:xfrm>
          <a:prstGeom prst="rect">
            <a:avLst/>
          </a:prstGeom>
          <a:solidFill>
            <a:srgbClr val="FFFFFF"/>
          </a:solidFill>
        </p:spPr>
      </p:sp>
      <p:cxnSp>
        <p:nvCxnSpPr>
          <p:cNvPr id="29" name="complex-flow-line-27"/>
          <p:cNvCxnSpPr/>
          <p:nvPr/>
        </p:nvCxnSpPr>
        <p:spPr>
          <a:xfrm>
            <a:off x="7594600" y="3318933"/>
            <a:ext cx="0" cy="76200"/>
          </a:xfrm>
          <a:prstGeom prst="line">
            <a:avLst/>
          </a:prstGeom>
          <a:ln w="25400">
            <a:solidFill>
              <a:srgbClr val="FFFFFF"/>
            </a:solidFill>
          </a:ln>
        </p:spPr>
      </p:cxnSp>
      <p:sp>
        <p:nvSpPr>
          <p:cNvPr id="30" name="complex-flow-text-28"/>
          <p:cNvSpPr txBox="1"/>
          <p:nvPr/>
        </p:nvSpPr>
        <p:spPr>
          <a:xfrm>
            <a:off x="6731000" y="3733800"/>
            <a:ext cx="1735667" cy="431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Render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31" name="complex-flow-shape-29"/>
          <p:cNvSpPr/>
          <p:nvPr/>
        </p:nvSpPr>
        <p:spPr>
          <a:xfrm>
            <a:off x="9525000" y="2709333"/>
            <a:ext cx="1989667" cy="1735667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32" name="complex-flow-shape-30"/>
          <p:cNvSpPr/>
          <p:nvPr/>
        </p:nvSpPr>
        <p:spPr>
          <a:xfrm>
            <a:off x="10219267" y="2921000"/>
            <a:ext cx="592667" cy="592667"/>
          </a:xfrm>
          <a:prstGeom prst="ellipse">
            <a:avLst/>
          </a:prstGeom>
          <a:solidFill>
            <a:srgbClr val="D67A24"/>
          </a:solidFill>
        </p:spPr>
      </p:sp>
      <p:cxnSp>
        <p:nvCxnSpPr>
          <p:cNvPr id="33" name="complex-flow-line-31"/>
          <p:cNvCxnSpPr/>
          <p:nvPr/>
        </p:nvCxnSpPr>
        <p:spPr>
          <a:xfrm>
            <a:off x="10388600" y="3191933"/>
            <a:ext cx="101600" cy="110067"/>
          </a:xfrm>
          <a:prstGeom prst="line">
            <a:avLst/>
          </a:prstGeom>
          <a:ln w="33867">
            <a:solidFill>
              <a:srgbClr val="FFFFFF"/>
            </a:solidFill>
          </a:ln>
        </p:spPr>
      </p:cxnSp>
      <p:cxnSp>
        <p:nvCxnSpPr>
          <p:cNvPr id="34" name="complex-flow-line-32"/>
          <p:cNvCxnSpPr/>
          <p:nvPr/>
        </p:nvCxnSpPr>
        <p:spPr>
          <a:xfrm flipV="1">
            <a:off x="10490200" y="3115733"/>
            <a:ext cx="186267" cy="186267"/>
          </a:xfrm>
          <a:prstGeom prst="line">
            <a:avLst/>
          </a:prstGeom>
          <a:ln w="33867">
            <a:solidFill>
              <a:srgbClr val="FFFFFF"/>
            </a:solidFill>
          </a:ln>
        </p:spPr>
      </p:cxnSp>
      <p:sp>
        <p:nvSpPr>
          <p:cNvPr id="35" name="complex-flow-text-33"/>
          <p:cNvSpPr txBox="1"/>
          <p:nvPr/>
        </p:nvSpPr>
        <p:spPr>
          <a:xfrm>
            <a:off x="9652000" y="3733800"/>
            <a:ext cx="1735667" cy="431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733" b="1">
                <a:solidFill>
                  <a:srgbClr val="16324F"/>
                </a:solidFill>
                <a:latin typeface="Noto Sans CJK TC"/>
                <a:ea typeface="Noto Sans CJK TC"/>
              </a:rPr>
              <a:t>Correct</a:t>
            </a:r>
            <a:endParaRPr sz="17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cxnSp>
        <p:nvCxnSpPr>
          <p:cNvPr id="36" name="complex-flow-line-34"/>
          <p:cNvCxnSpPr/>
          <p:nvPr/>
        </p:nvCxnSpPr>
        <p:spPr>
          <a:xfrm>
            <a:off x="10524067" y="4572000"/>
            <a:ext cx="0" cy="677333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cxnSp>
        <p:nvCxnSpPr>
          <p:cNvPr id="37" name="complex-flow-line-35"/>
          <p:cNvCxnSpPr/>
          <p:nvPr/>
        </p:nvCxnSpPr>
        <p:spPr>
          <a:xfrm flipH="1">
            <a:off x="4656667" y="5249333"/>
            <a:ext cx="5867400" cy="0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cxnSp>
        <p:nvCxnSpPr>
          <p:cNvPr id="38" name="complex-flow-line-36"/>
          <p:cNvCxnSpPr/>
          <p:nvPr/>
        </p:nvCxnSpPr>
        <p:spPr>
          <a:xfrm flipV="1">
            <a:off x="4656667" y="4631267"/>
            <a:ext cx="0" cy="618066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cxnSp>
        <p:nvCxnSpPr>
          <p:cNvPr id="39" name="complex-flow-line-37"/>
          <p:cNvCxnSpPr/>
          <p:nvPr/>
        </p:nvCxnSpPr>
        <p:spPr>
          <a:xfrm>
            <a:off x="4580467" y="4580467"/>
            <a:ext cx="76200" cy="50800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cxnSp>
        <p:nvCxnSpPr>
          <p:cNvPr id="40" name="complex-flow-line-38"/>
          <p:cNvCxnSpPr/>
          <p:nvPr/>
        </p:nvCxnSpPr>
        <p:spPr>
          <a:xfrm flipH="1">
            <a:off x="4580467" y="4631267"/>
            <a:ext cx="76200" cy="50800"/>
          </a:xfrm>
          <a:prstGeom prst="line">
            <a:avLst/>
          </a:prstGeom>
          <a:ln w="16933">
            <a:solidFill>
              <a:srgbClr val="587088"/>
            </a:solidFill>
          </a:ln>
        </p:spPr>
      </p:cxnSp>
      <p:sp>
        <p:nvSpPr>
          <p:cNvPr id="41" name="complex-flow-text-39"/>
          <p:cNvSpPr txBox="1"/>
          <p:nvPr/>
        </p:nvSpPr>
        <p:spPr>
          <a:xfrm>
            <a:off x="5384800" y="5503333"/>
            <a:ext cx="4741333" cy="389467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Targeted correction loop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2" name="complex-flow-text-40"/>
          <p:cNvSpPr txBox="1"/>
          <p:nvPr/>
        </p:nvSpPr>
        <p:spPr>
          <a:xfrm>
            <a:off x="762000" y="6189133"/>
            <a:ext cx="9313333" cy="381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333" b="0">
                <a:solidFill>
                  <a:srgbClr val="16324F"/>
                </a:solidFill>
                <a:latin typeface="Noto Sans CJK TC"/>
                <a:ea typeface="Noto Sans CJK TC"/>
              </a:rPr>
              <a:t>文字保持原樣</a:t>
            </a:r>
            <a:endParaRPr sz="1333" b="0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visual-chart-shape-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C"/>
          </a:solidFill>
        </p:spPr>
      </p:sp>
      <p:sp>
        <p:nvSpPr>
          <p:cNvPr id="3" name="visual-chart-text-1"/>
          <p:cNvSpPr txBox="1"/>
          <p:nvPr/>
        </p:nvSpPr>
        <p:spPr>
          <a:xfrm>
            <a:off x="541867" y="355600"/>
            <a:ext cx="10498667" cy="254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133" b="1">
                <a:solidFill>
                  <a:srgbClr val="587088"/>
                </a:solidFill>
                <a:latin typeface="Noto Sans CJK TC"/>
                <a:ea typeface="Noto Sans CJK TC"/>
              </a:rPr>
              <a:t>SLIDERECAST / ORIGINAL TEST MATERIAL</a:t>
            </a:r>
            <a:endParaRPr sz="1133" b="1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4" name="visual-chart-text-2"/>
          <p:cNvSpPr txBox="1"/>
          <p:nvPr/>
        </p:nvSpPr>
        <p:spPr>
          <a:xfrm>
            <a:off x="541867" y="770467"/>
            <a:ext cx="11006667" cy="550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2800" b="1">
                <a:solidFill>
                  <a:srgbClr val="16324F"/>
                </a:solidFill>
                <a:latin typeface="Noto Sans CJK TC"/>
                <a:ea typeface="Noto Sans CJK TC"/>
              </a:rPr>
              <a:t>A chart is also a visual design</a:t>
            </a:r>
            <a:endParaRPr sz="2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5" name="visual-chart-text-3"/>
          <p:cNvSpPr txBox="1"/>
          <p:nvPr/>
        </p:nvSpPr>
        <p:spPr>
          <a:xfrm>
            <a:off x="541867" y="1405467"/>
            <a:ext cx="10752667" cy="3810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Default: editable shapes and labels. Native chart data only on request.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6" name="visual-chart-shape-4"/>
          <p:cNvSpPr/>
          <p:nvPr/>
        </p:nvSpPr>
        <p:spPr>
          <a:xfrm>
            <a:off x="592667" y="2159000"/>
            <a:ext cx="7789333" cy="38100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effectLst>
            <a:outerShdw blurRad="50800" dist="38100" dir="5400000" algn="tl" rotWithShape="0">
              <a:srgbClr val="16324F">
                <a:alpha val="13000"/>
              </a:srgbClr>
            </a:outerShdw>
          </a:effectLst>
        </p:spPr>
      </p:sp>
      <p:sp>
        <p:nvSpPr>
          <p:cNvPr id="7" name="visual-chart-text-5"/>
          <p:cNvSpPr txBox="1"/>
          <p:nvPr/>
        </p:nvSpPr>
        <p:spPr>
          <a:xfrm>
            <a:off x="931333" y="2413000"/>
            <a:ext cx="6688667" cy="423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800" b="1">
                <a:solidFill>
                  <a:srgbClr val="16324F"/>
                </a:solidFill>
                <a:latin typeface="Noto Sans CJK TC"/>
                <a:ea typeface="Noto Sans CJK TC"/>
              </a:rPr>
              <a:t>Observed sample values</a:t>
            </a:r>
            <a:endParaRPr sz="18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cxnSp>
        <p:nvCxnSpPr>
          <p:cNvPr id="8" name="visual-chart-line-6"/>
          <p:cNvCxnSpPr/>
          <p:nvPr/>
        </p:nvCxnSpPr>
        <p:spPr>
          <a:xfrm>
            <a:off x="1016000" y="3302000"/>
            <a:ext cx="6858000" cy="0"/>
          </a:xfrm>
          <a:prstGeom prst="line">
            <a:avLst/>
          </a:prstGeom>
          <a:ln w="8467">
            <a:solidFill>
              <a:srgbClr val="E4EAF2"/>
            </a:solidFill>
          </a:ln>
        </p:spPr>
      </p:cxnSp>
      <p:cxnSp>
        <p:nvCxnSpPr>
          <p:cNvPr id="9" name="visual-chart-line-7"/>
          <p:cNvCxnSpPr/>
          <p:nvPr/>
        </p:nvCxnSpPr>
        <p:spPr>
          <a:xfrm>
            <a:off x="1016000" y="3962400"/>
            <a:ext cx="6858000" cy="0"/>
          </a:xfrm>
          <a:prstGeom prst="line">
            <a:avLst/>
          </a:prstGeom>
          <a:ln w="8467">
            <a:solidFill>
              <a:srgbClr val="E4EAF2"/>
            </a:solidFill>
          </a:ln>
        </p:spPr>
      </p:cxnSp>
      <p:cxnSp>
        <p:nvCxnSpPr>
          <p:cNvPr id="10" name="visual-chart-line-8"/>
          <p:cNvCxnSpPr/>
          <p:nvPr/>
        </p:nvCxnSpPr>
        <p:spPr>
          <a:xfrm>
            <a:off x="1016000" y="4622800"/>
            <a:ext cx="6858000" cy="0"/>
          </a:xfrm>
          <a:prstGeom prst="line">
            <a:avLst/>
          </a:prstGeom>
          <a:ln w="8467">
            <a:solidFill>
              <a:srgbClr val="E4EAF2"/>
            </a:solidFill>
          </a:ln>
        </p:spPr>
      </p:cxnSp>
      <p:cxnSp>
        <p:nvCxnSpPr>
          <p:cNvPr id="11" name="visual-chart-line-9"/>
          <p:cNvCxnSpPr/>
          <p:nvPr/>
        </p:nvCxnSpPr>
        <p:spPr>
          <a:xfrm>
            <a:off x="1016000" y="5283200"/>
            <a:ext cx="6858000" cy="0"/>
          </a:xfrm>
          <a:prstGeom prst="line">
            <a:avLst/>
          </a:prstGeom>
          <a:ln w="8467">
            <a:solidFill>
              <a:srgbClr val="E4EAF2"/>
            </a:solidFill>
          </a:ln>
        </p:spPr>
      </p:cxnSp>
      <p:sp>
        <p:nvSpPr>
          <p:cNvPr id="12" name="visual-chart-shape-10"/>
          <p:cNvSpPr/>
          <p:nvPr/>
        </p:nvSpPr>
        <p:spPr>
          <a:xfrm>
            <a:off x="1498600" y="4690533"/>
            <a:ext cx="694267" cy="812800"/>
          </a:xfrm>
          <a:prstGeom prst="roundRect">
            <a:avLst>
              <a:gd name="adj" fmla="val 14634"/>
            </a:avLst>
          </a:prstGeom>
          <a:solidFill>
            <a:srgbClr val="245CEC"/>
          </a:solidFill>
        </p:spPr>
      </p:sp>
      <p:sp>
        <p:nvSpPr>
          <p:cNvPr id="13" name="visual-chart-text-11"/>
          <p:cNvSpPr txBox="1"/>
          <p:nvPr/>
        </p:nvSpPr>
        <p:spPr>
          <a:xfrm>
            <a:off x="1413933" y="4351867"/>
            <a:ext cx="931333" cy="304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32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4" name="visual-chart-text-12"/>
          <p:cNvSpPr txBox="1"/>
          <p:nvPr/>
        </p:nvSpPr>
        <p:spPr>
          <a:xfrm>
            <a:off x="1413933" y="5588000"/>
            <a:ext cx="931333" cy="2794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Q1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5" name="visual-chart-shape-13"/>
          <p:cNvSpPr/>
          <p:nvPr/>
        </p:nvSpPr>
        <p:spPr>
          <a:xfrm>
            <a:off x="2988733" y="4030133"/>
            <a:ext cx="694267" cy="1473200"/>
          </a:xfrm>
          <a:prstGeom prst="roundRect">
            <a:avLst>
              <a:gd name="adj" fmla="val 14634"/>
            </a:avLst>
          </a:prstGeom>
          <a:solidFill>
            <a:srgbClr val="00A68C"/>
          </a:solidFill>
        </p:spPr>
      </p:sp>
      <p:sp>
        <p:nvSpPr>
          <p:cNvPr id="16" name="visual-chart-text-14"/>
          <p:cNvSpPr txBox="1"/>
          <p:nvPr/>
        </p:nvSpPr>
        <p:spPr>
          <a:xfrm>
            <a:off x="2904067" y="3691467"/>
            <a:ext cx="931333" cy="304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58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17" name="visual-chart-text-15"/>
          <p:cNvSpPr txBox="1"/>
          <p:nvPr/>
        </p:nvSpPr>
        <p:spPr>
          <a:xfrm>
            <a:off x="2904067" y="5588000"/>
            <a:ext cx="931333" cy="2794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Q2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18" name="visual-chart-shape-16"/>
          <p:cNvSpPr/>
          <p:nvPr/>
        </p:nvSpPr>
        <p:spPr>
          <a:xfrm>
            <a:off x="4478867" y="3572933"/>
            <a:ext cx="694267" cy="1930400"/>
          </a:xfrm>
          <a:prstGeom prst="roundRect">
            <a:avLst>
              <a:gd name="adj" fmla="val 14634"/>
            </a:avLst>
          </a:prstGeom>
          <a:solidFill>
            <a:srgbClr val="7953CF"/>
          </a:solidFill>
        </p:spPr>
      </p:sp>
      <p:sp>
        <p:nvSpPr>
          <p:cNvPr id="19" name="visual-chart-text-17"/>
          <p:cNvSpPr txBox="1"/>
          <p:nvPr/>
        </p:nvSpPr>
        <p:spPr>
          <a:xfrm>
            <a:off x="4394200" y="3234267"/>
            <a:ext cx="931333" cy="304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76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0" name="visual-chart-text-18"/>
          <p:cNvSpPr txBox="1"/>
          <p:nvPr/>
        </p:nvSpPr>
        <p:spPr>
          <a:xfrm>
            <a:off x="4394200" y="5588000"/>
            <a:ext cx="931333" cy="2794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Q3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1" name="visual-chart-shape-19"/>
          <p:cNvSpPr/>
          <p:nvPr/>
        </p:nvSpPr>
        <p:spPr>
          <a:xfrm>
            <a:off x="5969000" y="3166533"/>
            <a:ext cx="694267" cy="2336800"/>
          </a:xfrm>
          <a:prstGeom prst="roundRect">
            <a:avLst>
              <a:gd name="adj" fmla="val 14634"/>
            </a:avLst>
          </a:prstGeom>
          <a:solidFill>
            <a:srgbClr val="D67A24"/>
          </a:solidFill>
        </p:spPr>
      </p:sp>
      <p:sp>
        <p:nvSpPr>
          <p:cNvPr id="22" name="visual-chart-text-20"/>
          <p:cNvSpPr txBox="1"/>
          <p:nvPr/>
        </p:nvSpPr>
        <p:spPr>
          <a:xfrm>
            <a:off x="5884333" y="2827867"/>
            <a:ext cx="931333" cy="3048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00" b="1">
                <a:solidFill>
                  <a:srgbClr val="16324F"/>
                </a:solidFill>
                <a:latin typeface="Noto Sans CJK TC"/>
                <a:ea typeface="Noto Sans CJK TC"/>
              </a:rPr>
              <a:t>92</a:t>
            </a:r>
            <a:endParaRPr sz="1600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3" name="visual-chart-text-21"/>
          <p:cNvSpPr txBox="1"/>
          <p:nvPr/>
        </p:nvSpPr>
        <p:spPr>
          <a:xfrm>
            <a:off x="5884333" y="5588000"/>
            <a:ext cx="931333" cy="279400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00" b="0">
                <a:solidFill>
                  <a:srgbClr val="587088"/>
                </a:solidFill>
                <a:latin typeface="Noto Sans CJK TC"/>
                <a:ea typeface="Noto Sans CJK TC"/>
              </a:rPr>
              <a:t>Q4</a:t>
            </a:r>
            <a:endParaRPr sz="1400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4" name="visual-chart-text-22"/>
          <p:cNvSpPr txBox="1"/>
          <p:nvPr/>
        </p:nvSpPr>
        <p:spPr>
          <a:xfrm>
            <a:off x="8890000" y="2963333"/>
            <a:ext cx="2455333" cy="4233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933" b="1">
                <a:solidFill>
                  <a:srgbClr val="16324F"/>
                </a:solidFill>
                <a:latin typeface="Noto Sans CJK TC"/>
                <a:ea typeface="Noto Sans CJK TC"/>
              </a:rPr>
              <a:t>Exact labels</a:t>
            </a:r>
            <a:endParaRPr sz="1933" b="1">
              <a:solidFill>
                <a:srgbClr val="16324F"/>
              </a:solidFill>
              <a:latin typeface="Noto Sans CJK TC"/>
              <a:ea typeface="Noto Sans CJK TC"/>
            </a:endParaRPr>
          </a:p>
        </p:txBody>
      </p:sp>
      <p:sp>
        <p:nvSpPr>
          <p:cNvPr id="25" name="visual-chart-text-23"/>
          <p:cNvSpPr txBox="1"/>
          <p:nvPr/>
        </p:nvSpPr>
        <p:spPr>
          <a:xfrm>
            <a:off x="8890000" y="3598333"/>
            <a:ext cx="2540000" cy="3725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667" b="1">
                <a:solidFill>
                  <a:srgbClr val="245CEC"/>
                </a:solidFill>
                <a:latin typeface="Noto Sans CJK TC"/>
                <a:ea typeface="Noto Sans CJK TC"/>
              </a:rPr>
              <a:t>32 / 58 / 76 / 92</a:t>
            </a:r>
            <a:endParaRPr sz="1667" b="1">
              <a:solidFill>
                <a:srgbClr val="245CEC"/>
              </a:solidFill>
              <a:latin typeface="Noto Sans CJK TC"/>
              <a:ea typeface="Noto Sans CJK TC"/>
            </a:endParaRPr>
          </a:p>
        </p:txBody>
      </p:sp>
      <p:sp>
        <p:nvSpPr>
          <p:cNvPr id="26" name="visual-chart-text-24"/>
          <p:cNvSpPr txBox="1"/>
          <p:nvPr/>
        </p:nvSpPr>
        <p:spPr>
          <a:xfrm>
            <a:off x="8890000" y="4284133"/>
            <a:ext cx="2540000" cy="3725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No inferred data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  <p:sp>
        <p:nvSpPr>
          <p:cNvPr id="27" name="visual-chart-text-25"/>
          <p:cNvSpPr txBox="1"/>
          <p:nvPr/>
        </p:nvSpPr>
        <p:spPr>
          <a:xfrm>
            <a:off x="8890000" y="4749800"/>
            <a:ext cx="2540000" cy="372533"/>
          </a:xfrm>
          <a:prstGeom prst="rect">
            <a:avLst/>
          </a:prstGeom>
          <a:noFill/>
        </p:spPr>
        <p:txBody>
          <a:bodyPr wrap="square" rtlCol="0" lIns="0" tIns="0" rIns="0" bIns="0" anchor="t"/>
          <a:lstStyle/>
          <a:p>
            <a:r>
              <a:rPr lang="en-US" sz="1467" b="0">
                <a:solidFill>
                  <a:srgbClr val="587088"/>
                </a:solidFill>
                <a:latin typeface="Noto Sans CJK TC"/>
                <a:ea typeface="Noto Sans CJK TC"/>
              </a:rPr>
              <a:t>No style changes</a:t>
            </a:r>
            <a:endParaRPr sz="1467" b="0">
              <a:solidFill>
                <a:srgbClr val="587088"/>
              </a:solidFill>
              <a:latin typeface="Noto Sans CJK TC"/>
              <a:ea typeface="Noto Sans CJK TC"/>
            </a:endParaRPr>
          </a:p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