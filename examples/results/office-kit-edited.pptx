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fographic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infographic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infographic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EDIT PROOF / 原生文字已修改</a:t>
            </a:r>
          </a:p>
        </p:txBody>
      </p:sp>
      <p:sp>
        <p:nvSpPr>
          <p:cNvPr id="5" name="infographic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Fidelity-first reconstruction / 高保真視覺重建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6" name="infographic-shape-4"/>
          <p:cNvSpPr/>
          <p:nvPr/>
        </p:nvSpPr>
        <p:spPr>
          <a:xfrm>
            <a:off x="615019" y="2116667"/>
            <a:ext cx="3556000" cy="3598333"/>
          </a:xfrm>
          <a:prstGeom prst="roundRect">
            <a:avLst>
              <a:gd name="adj" fmla="val 2857"/>
            </a:avLst>
          </a:prstGeom>
          <a:solidFill>
            <a:srgbClr val="0F8A75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infographic-text-5"/>
          <p:cNvSpPr txBox="1"/>
          <p:nvPr/>
        </p:nvSpPr>
        <p:spPr>
          <a:xfrm>
            <a:off x="795867" y="2362200"/>
            <a:ext cx="2794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FFFFFF"/>
                </a:solidFill>
                <a:latin typeface="Noto Sans CJK TC"/>
                <a:ea typeface="Noto Sans CJK TC"/>
              </a:rPr>
              <a:t>01</a:t>
            </a:r>
            <a:endParaRPr sz="3000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8" name="infographic-text-6"/>
          <p:cNvSpPr txBox="1"/>
          <p:nvPr/>
        </p:nvSpPr>
        <p:spPr>
          <a:xfrm>
            <a:off x="795867" y="3166533"/>
            <a:ext cx="2912533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133" b="1">
                <a:solidFill>
                  <a:srgbClr val="FFFFFF"/>
                </a:solidFill>
                <a:latin typeface="Noto Sans CJK TC"/>
                <a:ea typeface="Noto Sans CJK TC"/>
              </a:rPr>
              <a:t>See the original</a:t>
            </a:r>
            <a:endParaRPr sz="2133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9" name="infographic-text-7"/>
          <p:cNvSpPr txBox="1"/>
          <p:nvPr/>
        </p:nvSpPr>
        <p:spPr>
          <a:xfrm>
            <a:off x="795867" y="3877733"/>
            <a:ext cx="2912533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0">
                <a:solidFill>
                  <a:srgbClr val="FFFFFF"/>
                </a:solidFill>
                <a:latin typeface="Noto Sans CJK TC"/>
                <a:ea typeface="Noto Sans CJK TC"/>
              </a:rPr>
              <a:t>版面、字型、色彩</a:t>
            </a:r>
            <a:endParaRPr sz="1600" b="0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10" name="infographic-shape-8"/>
          <p:cNvSpPr/>
          <p:nvPr/>
        </p:nvSpPr>
        <p:spPr>
          <a:xfrm>
            <a:off x="2921000" y="2413000"/>
            <a:ext cx="762000" cy="76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infographic-shape-9"/>
          <p:cNvSpPr/>
          <p:nvPr/>
        </p:nvSpPr>
        <p:spPr>
          <a:xfrm>
            <a:off x="3090333" y="2582333"/>
            <a:ext cx="423333" cy="423333"/>
          </a:xfrm>
          <a:prstGeom prst="ellipse">
            <a:avLst/>
          </a:prstGeom>
          <a:solidFill>
            <a:srgbClr val="245CEC"/>
          </a:solidFill>
        </p:spPr>
      </p:sp>
      <p:sp>
        <p:nvSpPr>
          <p:cNvPr id="12" name="infographic-shape-10"/>
          <p:cNvSpPr/>
          <p:nvPr/>
        </p:nvSpPr>
        <p:spPr>
          <a:xfrm>
            <a:off x="3251200" y="2599267"/>
            <a:ext cx="101600" cy="389467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infographic-shape-11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14" name="infographic-text-12"/>
          <p:cNvSpPr txBox="1"/>
          <p:nvPr/>
        </p:nvSpPr>
        <p:spPr>
          <a:xfrm>
            <a:off x="4715933" y="2362200"/>
            <a:ext cx="2540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00A68C"/>
                </a:solidFill>
                <a:latin typeface="Noto Sans CJK TC"/>
                <a:ea typeface="Noto Sans CJK TC"/>
              </a:rPr>
              <a:t>02</a:t>
            </a:r>
            <a:endParaRPr sz="3000" b="1">
              <a:solidFill>
                <a:srgbClr val="00A68C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infographic-text-13"/>
          <p:cNvSpPr txBox="1"/>
          <p:nvPr/>
        </p:nvSpPr>
        <p:spPr>
          <a:xfrm>
            <a:off x="4715933" y="3166533"/>
            <a:ext cx="2751667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000" b="1">
                <a:solidFill>
                  <a:srgbClr val="16324F"/>
                </a:solidFill>
                <a:latin typeface="Noto Sans CJK TC"/>
                <a:ea typeface="Noto Sans CJK TC"/>
              </a:rPr>
              <a:t>Recreate layers</a:t>
            </a:r>
            <a:endParaRPr sz="20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infographic-text-14"/>
          <p:cNvSpPr txBox="1"/>
          <p:nvPr/>
        </p:nvSpPr>
        <p:spPr>
          <a:xfrm>
            <a:off x="4715933" y="3877733"/>
            <a:ext cx="2743200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Native text and shapes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infographic-text-15"/>
          <p:cNvSpPr txBox="1"/>
          <p:nvPr/>
        </p:nvSpPr>
        <p:spPr>
          <a:xfrm>
            <a:off x="4715933" y="4351867"/>
            <a:ext cx="2709333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主要元素可個別編輯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infographic-shape-16"/>
          <p:cNvSpPr/>
          <p:nvPr/>
        </p:nvSpPr>
        <p:spPr>
          <a:xfrm>
            <a:off x="6985000" y="2531533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DDE8FF"/>
          </a:solidFill>
        </p:spPr>
      </p:sp>
      <p:sp>
        <p:nvSpPr>
          <p:cNvPr id="19" name="infographic-shape-17"/>
          <p:cNvSpPr/>
          <p:nvPr/>
        </p:nvSpPr>
        <p:spPr>
          <a:xfrm>
            <a:off x="6883400" y="2650067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80A4F8"/>
          </a:solidFill>
        </p:spPr>
      </p:sp>
      <p:sp>
        <p:nvSpPr>
          <p:cNvPr id="20" name="infographic-shape-18"/>
          <p:cNvSpPr/>
          <p:nvPr/>
        </p:nvSpPr>
        <p:spPr>
          <a:xfrm>
            <a:off x="6781800" y="2768600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245CEC"/>
          </a:solidFill>
        </p:spPr>
      </p:sp>
      <p:sp>
        <p:nvSpPr>
          <p:cNvPr id="21" name="infographic-shape-19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2" name="infographic-text-20"/>
          <p:cNvSpPr txBox="1"/>
          <p:nvPr/>
        </p:nvSpPr>
        <p:spPr>
          <a:xfrm>
            <a:off x="8424333" y="2362200"/>
            <a:ext cx="2540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245CEC"/>
                </a:solidFill>
                <a:latin typeface="Noto Sans CJK TC"/>
                <a:ea typeface="Noto Sans CJK TC"/>
              </a:rPr>
              <a:t>03</a:t>
            </a:r>
            <a:endParaRPr sz="3000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infographic-text-21"/>
          <p:cNvSpPr txBox="1"/>
          <p:nvPr/>
        </p:nvSpPr>
        <p:spPr>
          <a:xfrm>
            <a:off x="8424333" y="3166533"/>
            <a:ext cx="2997200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Compare &amp; correct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infographic-text-22"/>
          <p:cNvSpPr txBox="1"/>
          <p:nvPr/>
        </p:nvSpPr>
        <p:spPr>
          <a:xfrm>
            <a:off x="8424333" y="3877733"/>
            <a:ext cx="2912533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Render before delivery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cxnSp>
        <p:nvCxnSpPr>
          <p:cNvPr id="25" name="infographic-line-23"/>
          <p:cNvCxnSpPr/>
          <p:nvPr/>
        </p:nvCxnSpPr>
        <p:spPr>
          <a:xfrm>
            <a:off x="8483600" y="4868333"/>
            <a:ext cx="829733" cy="0"/>
          </a:xfrm>
          <a:prstGeom prst="line">
            <a:avLst/>
          </a:prstGeom>
          <a:ln w="42333">
            <a:solidFill>
              <a:srgbClr val="00A68C"/>
            </a:solidFill>
          </a:ln>
        </p:spPr>
      </p:cxnSp>
      <p:cxnSp>
        <p:nvCxnSpPr>
          <p:cNvPr id="26" name="infographic-line-24"/>
          <p:cNvCxnSpPr/>
          <p:nvPr/>
        </p:nvCxnSpPr>
        <p:spPr>
          <a:xfrm flipH="1" flipV="1">
            <a:off x="9144000" y="4715933"/>
            <a:ext cx="169333" cy="152400"/>
          </a:xfrm>
          <a:prstGeom prst="line">
            <a:avLst/>
          </a:prstGeom>
          <a:ln w="42333">
            <a:solidFill>
              <a:srgbClr val="00A68C"/>
            </a:solidFill>
          </a:ln>
        </p:spPr>
      </p:cxnSp>
      <p:sp>
        <p:nvSpPr>
          <p:cNvPr id="27" name="infographic-text-25"/>
          <p:cNvSpPr txBox="1"/>
          <p:nvPr/>
        </p:nvSpPr>
        <p:spPr>
          <a:xfrm>
            <a:off x="541867" y="6248400"/>
            <a:ext cx="10752667" cy="296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0">
                <a:solidFill>
                  <a:srgbClr val="587088"/>
                </a:solidFill>
                <a:latin typeface="Noto Sans CJK TC"/>
                <a:ea typeface="Noto Sans CJK TC"/>
              </a:rPr>
              <a:t>Source designed independently for testing. No client or company documents.</a:t>
            </a:r>
            <a:endParaRPr sz="11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mplex-flow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complex-flow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complex-flow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From pixels to editable layers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5" name="complex-flow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Complex screenshot fixture / 原始外觀優先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cxnSp>
        <p:nvCxnSpPr>
          <p:cNvPr id="6" name="complex-flow-line-4"/>
          <p:cNvCxnSpPr/>
          <p:nvPr/>
        </p:nvCxnSpPr>
        <p:spPr>
          <a:xfrm>
            <a:off x="2751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7" name="complex-flow-line-5"/>
          <p:cNvCxnSpPr/>
          <p:nvPr/>
        </p:nvCxnSpPr>
        <p:spPr>
          <a:xfrm>
            <a:off x="3505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8" name="complex-flow-line-6"/>
          <p:cNvCxnSpPr/>
          <p:nvPr/>
        </p:nvCxnSpPr>
        <p:spPr>
          <a:xfrm flipH="1">
            <a:off x="3505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9" name="complex-flow-line-7"/>
          <p:cNvCxnSpPr/>
          <p:nvPr/>
        </p:nvCxnSpPr>
        <p:spPr>
          <a:xfrm>
            <a:off x="5672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0" name="complex-flow-line-8"/>
          <p:cNvCxnSpPr/>
          <p:nvPr/>
        </p:nvCxnSpPr>
        <p:spPr>
          <a:xfrm>
            <a:off x="6426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1" name="complex-flow-line-9"/>
          <p:cNvCxnSpPr/>
          <p:nvPr/>
        </p:nvCxnSpPr>
        <p:spPr>
          <a:xfrm flipH="1">
            <a:off x="6426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2" name="complex-flow-line-10"/>
          <p:cNvCxnSpPr/>
          <p:nvPr/>
        </p:nvCxnSpPr>
        <p:spPr>
          <a:xfrm>
            <a:off x="8593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3" name="complex-flow-line-11"/>
          <p:cNvCxnSpPr/>
          <p:nvPr/>
        </p:nvCxnSpPr>
        <p:spPr>
          <a:xfrm>
            <a:off x="9347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4" name="complex-flow-line-12"/>
          <p:cNvCxnSpPr/>
          <p:nvPr/>
        </p:nvCxnSpPr>
        <p:spPr>
          <a:xfrm flipH="1">
            <a:off x="9347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sp>
        <p:nvSpPr>
          <p:cNvPr id="15" name="complex-flow-shape-13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16" name="complex-flow-shape-14"/>
          <p:cNvSpPr/>
          <p:nvPr/>
        </p:nvSpPr>
        <p:spPr>
          <a:xfrm>
            <a:off x="1456267" y="2921000"/>
            <a:ext cx="592667" cy="592667"/>
          </a:xfrm>
          <a:prstGeom prst="ellipse">
            <a:avLst/>
          </a:prstGeom>
          <a:solidFill>
            <a:srgbClr val="245CEC"/>
          </a:solidFill>
        </p:spPr>
      </p:sp>
      <p:sp>
        <p:nvSpPr>
          <p:cNvPr id="17" name="complex-flow-shape-15"/>
          <p:cNvSpPr/>
          <p:nvPr/>
        </p:nvSpPr>
        <p:spPr>
          <a:xfrm>
            <a:off x="1600200" y="3064933"/>
            <a:ext cx="254000" cy="254000"/>
          </a:xfrm>
          <a:prstGeom prst="ellipse">
            <a:avLst/>
          </a:prstGeom>
          <a:solidFill>
            <a:srgbClr val="FFFFFF"/>
          </a:solidFill>
        </p:spPr>
      </p:sp>
      <p:cxnSp>
        <p:nvCxnSpPr>
          <p:cNvPr id="18" name="complex-flow-line-16"/>
          <p:cNvCxnSpPr/>
          <p:nvPr/>
        </p:nvCxnSpPr>
        <p:spPr>
          <a:xfrm>
            <a:off x="1803400" y="3251200"/>
            <a:ext cx="135467" cy="1354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sp>
        <p:nvSpPr>
          <p:cNvPr id="19" name="complex-flow-text-17"/>
          <p:cNvSpPr txBox="1"/>
          <p:nvPr/>
        </p:nvSpPr>
        <p:spPr>
          <a:xfrm>
            <a:off x="889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Inspect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complex-flow-shape-18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1" name="complex-flow-shape-19"/>
          <p:cNvSpPr/>
          <p:nvPr/>
        </p:nvSpPr>
        <p:spPr>
          <a:xfrm>
            <a:off x="4377267" y="2921000"/>
            <a:ext cx="592667" cy="592667"/>
          </a:xfrm>
          <a:prstGeom prst="ellipse">
            <a:avLst/>
          </a:prstGeom>
          <a:solidFill>
            <a:srgbClr val="00A68C"/>
          </a:solidFill>
        </p:spPr>
      </p:sp>
      <p:sp>
        <p:nvSpPr>
          <p:cNvPr id="22" name="complex-flow-shape-20"/>
          <p:cNvSpPr/>
          <p:nvPr/>
        </p:nvSpPr>
        <p:spPr>
          <a:xfrm>
            <a:off x="4555067" y="3056467"/>
            <a:ext cx="254000" cy="169333"/>
          </a:xfrm>
          <a:prstGeom prst="rect">
            <a:avLst/>
          </a:prstGeom>
          <a:solidFill>
            <a:srgbClr val="A8E5DC"/>
          </a:solidFill>
        </p:spPr>
      </p:sp>
      <p:sp>
        <p:nvSpPr>
          <p:cNvPr id="23" name="complex-flow-shape-21"/>
          <p:cNvSpPr/>
          <p:nvPr/>
        </p:nvSpPr>
        <p:spPr>
          <a:xfrm>
            <a:off x="4495800" y="3132667"/>
            <a:ext cx="254000" cy="169333"/>
          </a:xfrm>
          <a:prstGeom prst="rect">
            <a:avLst/>
          </a:prstGeom>
          <a:solidFill>
            <a:srgbClr val="A8E5DC"/>
          </a:solidFill>
        </p:spPr>
      </p:sp>
      <p:sp>
        <p:nvSpPr>
          <p:cNvPr id="24" name="complex-flow-shape-22"/>
          <p:cNvSpPr/>
          <p:nvPr/>
        </p:nvSpPr>
        <p:spPr>
          <a:xfrm>
            <a:off x="4436533" y="3208867"/>
            <a:ext cx="254000" cy="16933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complex-flow-text-23"/>
          <p:cNvSpPr txBox="1"/>
          <p:nvPr/>
        </p:nvSpPr>
        <p:spPr>
          <a:xfrm>
            <a:off x="3810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Rebuild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6" name="complex-flow-shape-24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7" name="complex-flow-shape-25"/>
          <p:cNvSpPr/>
          <p:nvPr/>
        </p:nvSpPr>
        <p:spPr>
          <a:xfrm>
            <a:off x="7298267" y="2921000"/>
            <a:ext cx="592667" cy="592667"/>
          </a:xfrm>
          <a:prstGeom prst="ellipse">
            <a:avLst/>
          </a:prstGeom>
          <a:solidFill>
            <a:srgbClr val="7953CF"/>
          </a:solidFill>
        </p:spPr>
      </p:sp>
      <p:sp>
        <p:nvSpPr>
          <p:cNvPr id="28" name="complex-flow-shape-26"/>
          <p:cNvSpPr/>
          <p:nvPr/>
        </p:nvSpPr>
        <p:spPr>
          <a:xfrm>
            <a:off x="7425267" y="3098800"/>
            <a:ext cx="338667" cy="211667"/>
          </a:xfrm>
          <a:prstGeom prst="rect">
            <a:avLst/>
          </a:prstGeom>
          <a:solidFill>
            <a:srgbClr val="FFFFFF"/>
          </a:solidFill>
        </p:spPr>
      </p:sp>
      <p:cxnSp>
        <p:nvCxnSpPr>
          <p:cNvPr id="29" name="complex-flow-line-27"/>
          <p:cNvCxnSpPr/>
          <p:nvPr/>
        </p:nvCxnSpPr>
        <p:spPr>
          <a:xfrm>
            <a:off x="7594600" y="3318933"/>
            <a:ext cx="0" cy="76200"/>
          </a:xfrm>
          <a:prstGeom prst="line">
            <a:avLst/>
          </a:prstGeom>
          <a:ln w="25400">
            <a:solidFill>
              <a:srgbClr val="FFFFFF"/>
            </a:solidFill>
          </a:ln>
        </p:spPr>
      </p:cxnSp>
      <p:sp>
        <p:nvSpPr>
          <p:cNvPr id="30" name="complex-flow-text-28"/>
          <p:cNvSpPr txBox="1"/>
          <p:nvPr/>
        </p:nvSpPr>
        <p:spPr>
          <a:xfrm>
            <a:off x="6731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Render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1" name="complex-flow-shape-29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32" name="complex-flow-shape-30"/>
          <p:cNvSpPr/>
          <p:nvPr/>
        </p:nvSpPr>
        <p:spPr>
          <a:xfrm>
            <a:off x="10219267" y="2921000"/>
            <a:ext cx="592667" cy="592667"/>
          </a:xfrm>
          <a:prstGeom prst="ellipse">
            <a:avLst/>
          </a:prstGeom>
          <a:solidFill>
            <a:srgbClr val="D67A24"/>
          </a:solidFill>
        </p:spPr>
      </p:sp>
      <p:cxnSp>
        <p:nvCxnSpPr>
          <p:cNvPr id="33" name="complex-flow-line-31"/>
          <p:cNvCxnSpPr/>
          <p:nvPr/>
        </p:nvCxnSpPr>
        <p:spPr>
          <a:xfrm>
            <a:off x="10388600" y="3191933"/>
            <a:ext cx="101600" cy="1100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cxnSp>
        <p:nvCxnSpPr>
          <p:cNvPr id="34" name="complex-flow-line-32"/>
          <p:cNvCxnSpPr/>
          <p:nvPr/>
        </p:nvCxnSpPr>
        <p:spPr>
          <a:xfrm flipV="1">
            <a:off x="10490200" y="3115733"/>
            <a:ext cx="186267" cy="1862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sp>
        <p:nvSpPr>
          <p:cNvPr id="35" name="complex-flow-text-33"/>
          <p:cNvSpPr txBox="1"/>
          <p:nvPr/>
        </p:nvSpPr>
        <p:spPr>
          <a:xfrm>
            <a:off x="9652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Correct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36" name="complex-flow-line-34"/>
          <p:cNvCxnSpPr/>
          <p:nvPr/>
        </p:nvCxnSpPr>
        <p:spPr>
          <a:xfrm>
            <a:off x="10524067" y="4572000"/>
            <a:ext cx="0" cy="677333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7" name="complex-flow-line-35"/>
          <p:cNvCxnSpPr/>
          <p:nvPr/>
        </p:nvCxnSpPr>
        <p:spPr>
          <a:xfrm flipH="1">
            <a:off x="4656667" y="5249333"/>
            <a:ext cx="5867400" cy="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8" name="complex-flow-line-36"/>
          <p:cNvCxnSpPr/>
          <p:nvPr/>
        </p:nvCxnSpPr>
        <p:spPr>
          <a:xfrm flipV="1">
            <a:off x="4656667" y="4631267"/>
            <a:ext cx="0" cy="618066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9" name="complex-flow-line-37"/>
          <p:cNvCxnSpPr/>
          <p:nvPr/>
        </p:nvCxnSpPr>
        <p:spPr>
          <a:xfrm>
            <a:off x="4580467" y="4580467"/>
            <a:ext cx="76200" cy="5080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40" name="complex-flow-line-38"/>
          <p:cNvCxnSpPr/>
          <p:nvPr/>
        </p:nvCxnSpPr>
        <p:spPr>
          <a:xfrm flipH="1">
            <a:off x="4580467" y="4631267"/>
            <a:ext cx="76200" cy="5080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sp>
        <p:nvSpPr>
          <p:cNvPr id="41" name="complex-flow-text-39"/>
          <p:cNvSpPr txBox="1"/>
          <p:nvPr/>
        </p:nvSpPr>
        <p:spPr>
          <a:xfrm>
            <a:off x="5384800" y="5503333"/>
            <a:ext cx="4741333" cy="389467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Targeted correction loop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2" name="complex-flow-text-40"/>
          <p:cNvSpPr txBox="1"/>
          <p:nvPr/>
        </p:nvSpPr>
        <p:spPr>
          <a:xfrm>
            <a:off x="762000" y="6189133"/>
            <a:ext cx="9313333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333" b="0">
                <a:solidFill>
                  <a:srgbClr val="16324F"/>
                </a:solidFill>
                <a:latin typeface="Noto Sans CJK TC"/>
                <a:ea typeface="Noto Sans CJK TC"/>
              </a:rPr>
              <a:t>文字保持原樣</a:t>
            </a:r>
            <a:endParaRPr sz="1333" b="0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isual-chart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visual-chart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visual-chart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A chart is also a visual design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5" name="visual-chart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Default: editable shapes and labels. Native chart data only on request.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6" name="visual-chart-shape-4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visual-chart-text-5"/>
          <p:cNvSpPr txBox="1"/>
          <p:nvPr/>
        </p:nvSpPr>
        <p:spPr>
          <a:xfrm>
            <a:off x="931333" y="2413000"/>
            <a:ext cx="6688667" cy="423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800" b="1">
                <a:solidFill>
                  <a:srgbClr val="16324F"/>
                </a:solidFill>
                <a:latin typeface="Noto Sans CJK TC"/>
                <a:ea typeface="Noto Sans CJK TC"/>
              </a:rPr>
              <a:t>Observed sample values</a:t>
            </a:r>
            <a:endParaRPr sz="1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8" name="visual-chart-line-6"/>
          <p:cNvCxnSpPr/>
          <p:nvPr/>
        </p:nvCxnSpPr>
        <p:spPr>
          <a:xfrm>
            <a:off x="1016000" y="33020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9" name="visual-chart-line-7"/>
          <p:cNvCxnSpPr/>
          <p:nvPr/>
        </p:nvCxnSpPr>
        <p:spPr>
          <a:xfrm>
            <a:off x="1016000" y="39624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10" name="visual-chart-line-8"/>
          <p:cNvCxnSpPr/>
          <p:nvPr/>
        </p:nvCxnSpPr>
        <p:spPr>
          <a:xfrm>
            <a:off x="1016000" y="46228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11" name="visual-chart-line-9"/>
          <p:cNvCxnSpPr/>
          <p:nvPr/>
        </p:nvCxnSpPr>
        <p:spPr>
          <a:xfrm>
            <a:off x="1016000" y="52832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sp>
        <p:nvSpPr>
          <p:cNvPr id="12" name="visual-chart-shape-10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</p:spPr>
      </p:sp>
      <p:sp>
        <p:nvSpPr>
          <p:cNvPr id="13" name="visual-chart-text-11"/>
          <p:cNvSpPr txBox="1"/>
          <p:nvPr/>
        </p:nvSpPr>
        <p:spPr>
          <a:xfrm>
            <a:off x="1413933" y="43518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32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4" name="visual-chart-text-12"/>
          <p:cNvSpPr txBox="1"/>
          <p:nvPr/>
        </p:nvSpPr>
        <p:spPr>
          <a:xfrm>
            <a:off x="1413933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Q1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visual-chart-shape-13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</p:spPr>
      </p:sp>
      <p:sp>
        <p:nvSpPr>
          <p:cNvPr id="16" name="visual-chart-text-14"/>
          <p:cNvSpPr txBox="1"/>
          <p:nvPr/>
        </p:nvSpPr>
        <p:spPr>
          <a:xfrm>
            <a:off x="2904067" y="36914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58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visual-chart-text-15"/>
          <p:cNvSpPr txBox="1"/>
          <p:nvPr/>
        </p:nvSpPr>
        <p:spPr>
          <a:xfrm>
            <a:off x="2904067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Q2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visual-chart-shape-16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</p:spPr>
      </p:sp>
      <p:sp>
        <p:nvSpPr>
          <p:cNvPr id="19" name="visual-chart-text-17"/>
          <p:cNvSpPr txBox="1"/>
          <p:nvPr/>
        </p:nvSpPr>
        <p:spPr>
          <a:xfrm>
            <a:off x="4394200" y="32342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76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visual-chart-text-18"/>
          <p:cNvSpPr txBox="1"/>
          <p:nvPr/>
        </p:nvSpPr>
        <p:spPr>
          <a:xfrm>
            <a:off x="4394200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Q3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1" name="visual-chart-shape-19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</p:spPr>
      </p:sp>
      <p:sp>
        <p:nvSpPr>
          <p:cNvPr id="22" name="visual-chart-text-20"/>
          <p:cNvSpPr txBox="1"/>
          <p:nvPr/>
        </p:nvSpPr>
        <p:spPr>
          <a:xfrm>
            <a:off x="5884333" y="28278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92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visual-chart-text-21"/>
          <p:cNvSpPr txBox="1"/>
          <p:nvPr/>
        </p:nvSpPr>
        <p:spPr>
          <a:xfrm>
            <a:off x="5884333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Q4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visual-chart-text-22"/>
          <p:cNvSpPr txBox="1"/>
          <p:nvPr/>
        </p:nvSpPr>
        <p:spPr>
          <a:xfrm>
            <a:off x="8890000" y="2963333"/>
            <a:ext cx="2455333" cy="423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Exact labels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visual-chart-text-23"/>
          <p:cNvSpPr txBox="1"/>
          <p:nvPr/>
        </p:nvSpPr>
        <p:spPr>
          <a:xfrm>
            <a:off x="8890000" y="3598333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67" b="1">
                <a:solidFill>
                  <a:srgbClr val="245CEC"/>
                </a:solidFill>
                <a:latin typeface="Noto Sans CJK TC"/>
                <a:ea typeface="Noto Sans CJK TC"/>
              </a:rPr>
              <a:t>32 / 58 / 76 / 92</a:t>
            </a:r>
            <a:endParaRPr sz="1667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6" name="visual-chart-text-24"/>
          <p:cNvSpPr txBox="1"/>
          <p:nvPr/>
        </p:nvSpPr>
        <p:spPr>
          <a:xfrm>
            <a:off x="8890000" y="4284133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inferred data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7" name="visual-chart-text-25"/>
          <p:cNvSpPr txBox="1"/>
          <p:nvPr/>
        </p:nvSpPr>
        <p:spPr>
          <a:xfrm>
            <a:off x="8890000" y="4749800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style changes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